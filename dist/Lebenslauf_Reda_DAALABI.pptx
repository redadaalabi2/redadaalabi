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4"/>
  </p:notesMasterIdLst>
  <p:sldIdLst>
    <p:sldId id="256" r:id="rId2"/>
    <p:sldId id="257" r:id="rId3"/>
  </p:sldIdLst>
  <p:sldSz cx="10799763" cy="154797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90" autoAdjust="0"/>
    <p:restoredTop sz="93741" autoAdjust="0"/>
  </p:normalViewPr>
  <p:slideViewPr>
    <p:cSldViewPr snapToGrid="0">
      <p:cViewPr>
        <p:scale>
          <a:sx n="100" d="100"/>
          <a:sy n="100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7A04CB-4023-4126-8973-BFA7715C0FC8}" type="datetimeFigureOut">
              <a:rPr lang="fr-FR" smtClean="0"/>
              <a:t>11/02/2026</a:t>
            </a:fld>
            <a:endParaRPr lang="fr-FR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52675" y="1143000"/>
            <a:ext cx="21526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628BCD-EB42-4B00-A1A7-C6E1D2854DF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8013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52675" y="1143000"/>
            <a:ext cx="21526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628BCD-EB42-4B00-A1A7-C6E1D2854DFA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1267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52675" y="1143000"/>
            <a:ext cx="21526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628BCD-EB42-4B00-A1A7-C6E1D2854DFA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2514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533371"/>
            <a:ext cx="9179799" cy="5389233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8130434"/>
            <a:ext cx="8099822" cy="3737346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FC83-B045-485E-9EA7-0E7C6B0F6DC0}" type="datetimeFigureOut">
              <a:rPr lang="fr-FR" smtClean="0"/>
              <a:t>11/02/2026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DA89C-BCD0-4329-9698-04F83058AE3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7722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FC83-B045-485E-9EA7-0E7C6B0F6DC0}" type="datetimeFigureOut">
              <a:rPr lang="fr-FR" smtClean="0"/>
              <a:t>11/02/2026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DA89C-BCD0-4329-9698-04F83058AE3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4229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3859183"/>
            <a:ext cx="9314796" cy="6439129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10359229"/>
            <a:ext cx="9314796" cy="3386186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/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FC83-B045-485E-9EA7-0E7C6B0F6DC0}" type="datetimeFigureOut">
              <a:rPr lang="fr-FR" smtClean="0"/>
              <a:t>11/02/2026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DA89C-BCD0-4329-9698-04F83058AE3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1638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4120757"/>
            <a:ext cx="4589899" cy="982173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4120757"/>
            <a:ext cx="4589899" cy="982173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FC83-B045-485E-9EA7-0E7C6B0F6DC0}" type="datetimeFigureOut">
              <a:rPr lang="fr-FR" smtClean="0"/>
              <a:t>11/02/2026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DA89C-BCD0-4329-9698-04F83058AE3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2964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824155"/>
            <a:ext cx="9314796" cy="29920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3794681"/>
            <a:ext cx="4568805" cy="185971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5654395"/>
            <a:ext cx="4568805" cy="831676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3794681"/>
            <a:ext cx="4591306" cy="185971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5654395"/>
            <a:ext cx="4591306" cy="831676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FC83-B045-485E-9EA7-0E7C6B0F6DC0}" type="datetimeFigureOut">
              <a:rPr lang="fr-FR" smtClean="0"/>
              <a:t>11/02/2026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DA89C-BCD0-4329-9698-04F83058AE3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1424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FC83-B045-485E-9EA7-0E7C6B0F6DC0}" type="datetimeFigureOut">
              <a:rPr lang="fr-FR" smtClean="0"/>
              <a:t>11/02/2026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DA89C-BCD0-4329-9698-04F83058AE3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7575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FC83-B045-485E-9EA7-0E7C6B0F6DC0}" type="datetimeFigureOut">
              <a:rPr lang="fr-FR" smtClean="0"/>
              <a:t>11/02/2026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DA89C-BCD0-4329-9698-04F83058AE3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123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1031981"/>
            <a:ext cx="3483205" cy="3611933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2228796"/>
            <a:ext cx="5467380" cy="11000629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4643914"/>
            <a:ext cx="3483205" cy="8603425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FC83-B045-485E-9EA7-0E7C6B0F6DC0}" type="datetimeFigureOut">
              <a:rPr lang="fr-FR" smtClean="0"/>
              <a:t>11/02/2026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DA89C-BCD0-4329-9698-04F83058AE3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1155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1031981"/>
            <a:ext cx="3483205" cy="3611933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2228796"/>
            <a:ext cx="5467380" cy="11000629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4643914"/>
            <a:ext cx="3483205" cy="8603425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FC83-B045-485E-9EA7-0E7C6B0F6DC0}" type="datetimeFigureOut">
              <a:rPr lang="fr-FR" smtClean="0"/>
              <a:t>11/02/2026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DA89C-BCD0-4329-9698-04F83058AE3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4359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FC83-B045-485E-9EA7-0E7C6B0F6DC0}" type="datetimeFigureOut">
              <a:rPr lang="fr-FR" smtClean="0"/>
              <a:t>11/02/2026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DA89C-BCD0-4329-9698-04F83058AE3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5228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824152"/>
            <a:ext cx="2328699" cy="131183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824152"/>
            <a:ext cx="6851100" cy="1311834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FC83-B045-485E-9EA7-0E7C6B0F6DC0}" type="datetimeFigureOut">
              <a:rPr lang="fr-FR" smtClean="0"/>
              <a:t>11/02/2026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DA89C-BCD0-4329-9698-04F83058AE3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0777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824155"/>
            <a:ext cx="9314796" cy="29920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4120757"/>
            <a:ext cx="9314796" cy="9821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4347404"/>
            <a:ext cx="2429947" cy="824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1FC83-B045-485E-9EA7-0E7C6B0F6DC0}" type="datetimeFigureOut">
              <a:rPr lang="fr-FR" smtClean="0"/>
              <a:t>11/02/2026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4347404"/>
            <a:ext cx="3644920" cy="824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4347404"/>
            <a:ext cx="2429947" cy="824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DA89C-BCD0-4329-9698-04F83058AE3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87540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hyperlink" Target="https://www.linkedin.com/in/reda-daalabi-1535ab1bb/" TargetMode="External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redadaalabi.vercel.app/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7A29C1-8188-273B-56A2-C4C6831A1B09}"/>
              </a:ext>
            </a:extLst>
          </p:cNvPr>
          <p:cNvSpPr/>
          <p:nvPr/>
        </p:nvSpPr>
        <p:spPr>
          <a:xfrm>
            <a:off x="-1" y="1617188"/>
            <a:ext cx="10799763" cy="8631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3663" tIns="46831" rIns="93663" bIns="4683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844" dirty="0"/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CF999092-51D0-4040-A441-EE93FB3BE0AB}"/>
              </a:ext>
            </a:extLst>
          </p:cNvPr>
          <p:cNvSpPr/>
          <p:nvPr/>
        </p:nvSpPr>
        <p:spPr>
          <a:xfrm>
            <a:off x="2647159" y="2076522"/>
            <a:ext cx="251017" cy="280217"/>
          </a:xfrm>
          <a:custGeom>
            <a:avLst/>
            <a:gdLst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688485 w 3888432"/>
              <a:gd name="connsiteY5" fmla="*/ 147563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2688485 w 3888432"/>
              <a:gd name="connsiteY17" fmla="*/ 1475633 h 3960440"/>
              <a:gd name="connsiteX18" fmla="*/ 878058 w 3888432"/>
              <a:gd name="connsiteY18" fmla="*/ 648072 h 3960440"/>
              <a:gd name="connsiteX19" fmla="*/ 554477 w 3888432"/>
              <a:gd name="connsiteY19" fmla="*/ 971653 h 3960440"/>
              <a:gd name="connsiteX20" fmla="*/ 878058 w 3888432"/>
              <a:gd name="connsiteY20" fmla="*/ 1295234 h 3960440"/>
              <a:gd name="connsiteX21" fmla="*/ 1201639 w 3888432"/>
              <a:gd name="connsiteY21" fmla="*/ 971653 h 3960440"/>
              <a:gd name="connsiteX22" fmla="*/ 878058 w 3888432"/>
              <a:gd name="connsiteY22" fmla="*/ 648072 h 3960440"/>
              <a:gd name="connsiteX23" fmla="*/ 333511 w 3888432"/>
              <a:gd name="connsiteY23" fmla="*/ 0 h 3960440"/>
              <a:gd name="connsiteX24" fmla="*/ 3554921 w 3888432"/>
              <a:gd name="connsiteY24" fmla="*/ 0 h 3960440"/>
              <a:gd name="connsiteX25" fmla="*/ 3888432 w 3888432"/>
              <a:gd name="connsiteY25" fmla="*/ 333511 h 3960440"/>
              <a:gd name="connsiteX26" fmla="*/ 3888432 w 3888432"/>
              <a:gd name="connsiteY26" fmla="*/ 3626929 h 3960440"/>
              <a:gd name="connsiteX27" fmla="*/ 3554921 w 3888432"/>
              <a:gd name="connsiteY27" fmla="*/ 3960440 h 3960440"/>
              <a:gd name="connsiteX28" fmla="*/ 333511 w 3888432"/>
              <a:gd name="connsiteY28" fmla="*/ 3960440 h 3960440"/>
              <a:gd name="connsiteX29" fmla="*/ 0 w 3888432"/>
              <a:gd name="connsiteY29" fmla="*/ 3626929 h 3960440"/>
              <a:gd name="connsiteX30" fmla="*/ 0 w 3888432"/>
              <a:gd name="connsiteY30" fmla="*/ 333511 h 3960440"/>
              <a:gd name="connsiteX31" fmla="*/ 333511 w 3888432"/>
              <a:gd name="connsiteY31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663" tIns="46831" rIns="93663" bIns="4683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66" dirty="0">
              <a:solidFill>
                <a:schemeClr val="tx1"/>
              </a:solidFill>
            </a:endParaRPr>
          </a:p>
        </p:txBody>
      </p:sp>
      <p:sp>
        <p:nvSpPr>
          <p:cNvPr id="10" name="Block Arc 6">
            <a:extLst>
              <a:ext uri="{FF2B5EF4-FFF2-40B4-BE49-F238E27FC236}">
                <a16:creationId xmlns:a16="http://schemas.microsoft.com/office/drawing/2014/main" id="{62965521-2EFF-4BE9-866C-3D9369FA5C74}"/>
              </a:ext>
            </a:extLst>
          </p:cNvPr>
          <p:cNvSpPr/>
          <p:nvPr/>
        </p:nvSpPr>
        <p:spPr>
          <a:xfrm>
            <a:off x="223155" y="1721647"/>
            <a:ext cx="233406" cy="239370"/>
          </a:xfrm>
          <a:custGeom>
            <a:avLst/>
            <a:gdLst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151233"/>
              <a:gd name="connsiteY0" fmla="*/ 2175617 h 3221116"/>
              <a:gd name="connsiteX1" fmla="*/ 2658205 w 3151233"/>
              <a:gd name="connsiteY1" fmla="*/ 2178566 h 3221116"/>
              <a:gd name="connsiteX2" fmla="*/ 2664630 w 3151233"/>
              <a:gd name="connsiteY2" fmla="*/ 2175617 h 3221116"/>
              <a:gd name="connsiteX3" fmla="*/ 1477043 w 3151233"/>
              <a:gd name="connsiteY3" fmla="*/ 1144372 h 3221116"/>
              <a:gd name="connsiteX4" fmla="*/ 1409070 w 3151233"/>
              <a:gd name="connsiteY4" fmla="*/ 1159393 h 3221116"/>
              <a:gd name="connsiteX5" fmla="*/ 1152384 w 3151233"/>
              <a:gd name="connsiteY5" fmla="*/ 1703728 h 3221116"/>
              <a:gd name="connsiteX6" fmla="*/ 1514013 w 3151233"/>
              <a:gd name="connsiteY6" fmla="*/ 2152290 h 3221116"/>
              <a:gd name="connsiteX7" fmla="*/ 1850815 w 3151233"/>
              <a:gd name="connsiteY7" fmla="*/ 1654259 h 3221116"/>
              <a:gd name="connsiteX8" fmla="*/ 1830467 w 3151233"/>
              <a:gd name="connsiteY8" fmla="*/ 1515986 h 3221116"/>
              <a:gd name="connsiteX9" fmla="*/ 1477043 w 3151233"/>
              <a:gd name="connsiteY9" fmla="*/ 1144372 h 3221116"/>
              <a:gd name="connsiteX10" fmla="*/ 1651152 w 3151233"/>
              <a:gd name="connsiteY10" fmla="*/ 501 h 3221116"/>
              <a:gd name="connsiteX11" fmla="*/ 2580395 w 3151233"/>
              <a:gd name="connsiteY11" fmla="*/ 324821 h 3221116"/>
              <a:gd name="connsiteX12" fmla="*/ 3030464 w 3151233"/>
              <a:gd name="connsiteY12" fmla="*/ 2249544 h 3221116"/>
              <a:gd name="connsiteX13" fmla="*/ 2585849 w 3151233"/>
              <a:gd name="connsiteY13" fmla="*/ 2588887 h 3221116"/>
              <a:gd name="connsiteX14" fmla="*/ 1973374 w 3151233"/>
              <a:gd name="connsiteY14" fmla="*/ 2195096 h 3221116"/>
              <a:gd name="connsiteX15" fmla="*/ 1390827 w 3151233"/>
              <a:gd name="connsiteY15" fmla="*/ 2527630 h 3221116"/>
              <a:gd name="connsiteX16" fmla="*/ 783896 w 3151233"/>
              <a:gd name="connsiteY16" fmla="*/ 1665044 h 3221116"/>
              <a:gd name="connsiteX17" fmla="*/ 1268509 w 3151233"/>
              <a:gd name="connsiteY17" fmla="*/ 819983 h 3221116"/>
              <a:gd name="connsiteX18" fmla="*/ 1328805 w 3151233"/>
              <a:gd name="connsiteY18" fmla="*/ 807930 h 3221116"/>
              <a:gd name="connsiteX19" fmla="*/ 1390827 w 3151233"/>
              <a:gd name="connsiteY19" fmla="*/ 802457 h 3221116"/>
              <a:gd name="connsiteX20" fmla="*/ 1462242 w 3151233"/>
              <a:gd name="connsiteY20" fmla="*/ 801708 h 3221116"/>
              <a:gd name="connsiteX21" fmla="*/ 1956122 w 3151233"/>
              <a:gd name="connsiteY21" fmla="*/ 1110076 h 3221116"/>
              <a:gd name="connsiteX22" fmla="*/ 1973374 w 3151233"/>
              <a:gd name="connsiteY22" fmla="*/ 875315 h 3221116"/>
              <a:gd name="connsiteX23" fmla="*/ 2333414 w 3151233"/>
              <a:gd name="connsiteY23" fmla="*/ 875315 h 3221116"/>
              <a:gd name="connsiteX24" fmla="*/ 2324788 w 3151233"/>
              <a:gd name="connsiteY24" fmla="*/ 2054049 h 3221116"/>
              <a:gd name="connsiteX25" fmla="*/ 2661746 w 3151233"/>
              <a:gd name="connsiteY25" fmla="*/ 2179658 h 3221116"/>
              <a:gd name="connsiteX26" fmla="*/ 2691046 w 3151233"/>
              <a:gd name="connsiteY26" fmla="*/ 2188689 h 3221116"/>
              <a:gd name="connsiteX27" fmla="*/ 2667011 w 3151233"/>
              <a:gd name="connsiteY27" fmla="*/ 2175828 h 3221116"/>
              <a:gd name="connsiteX28" fmla="*/ 2332141 w 3151233"/>
              <a:gd name="connsiteY28" fmla="*/ 653899 h 3221116"/>
              <a:gd name="connsiteX29" fmla="*/ 776764 w 3151233"/>
              <a:gd name="connsiteY29" fmla="*/ 749845 h 3221116"/>
              <a:gd name="connsiteX30" fmla="*/ 631487 w 3151233"/>
              <a:gd name="connsiteY30" fmla="*/ 2301392 h 3221116"/>
              <a:gd name="connsiteX31" fmla="*/ 2142017 w 3151233"/>
              <a:gd name="connsiteY31" fmla="*/ 2684410 h 3221116"/>
              <a:gd name="connsiteX32" fmla="*/ 2324866 w 3151233"/>
              <a:gd name="connsiteY32" fmla="*/ 3053856 h 3221116"/>
              <a:gd name="connsiteX33" fmla="*/ 294693 w 3151233"/>
              <a:gd name="connsiteY33" fmla="*/ 2539075 h 3221116"/>
              <a:gd name="connsiteX34" fmla="*/ 489947 w 3151233"/>
              <a:gd name="connsiteY34" fmla="*/ 453774 h 3221116"/>
              <a:gd name="connsiteX35" fmla="*/ 1651152 w 3151233"/>
              <a:gd name="connsiteY35" fmla="*/ 501 h 3221116"/>
              <a:gd name="connsiteX0" fmla="*/ 2664630 w 3161851"/>
              <a:gd name="connsiteY0" fmla="*/ 2175617 h 3221116"/>
              <a:gd name="connsiteX1" fmla="*/ 2658205 w 3161851"/>
              <a:gd name="connsiteY1" fmla="*/ 2178566 h 3221116"/>
              <a:gd name="connsiteX2" fmla="*/ 2664630 w 3161851"/>
              <a:gd name="connsiteY2" fmla="*/ 2175617 h 3221116"/>
              <a:gd name="connsiteX3" fmla="*/ 1477043 w 3161851"/>
              <a:gd name="connsiteY3" fmla="*/ 1144372 h 3221116"/>
              <a:gd name="connsiteX4" fmla="*/ 1409070 w 3161851"/>
              <a:gd name="connsiteY4" fmla="*/ 1159393 h 3221116"/>
              <a:gd name="connsiteX5" fmla="*/ 1152384 w 3161851"/>
              <a:gd name="connsiteY5" fmla="*/ 1703728 h 3221116"/>
              <a:gd name="connsiteX6" fmla="*/ 1514013 w 3161851"/>
              <a:gd name="connsiteY6" fmla="*/ 2152290 h 3221116"/>
              <a:gd name="connsiteX7" fmla="*/ 1850815 w 3161851"/>
              <a:gd name="connsiteY7" fmla="*/ 1654259 h 3221116"/>
              <a:gd name="connsiteX8" fmla="*/ 1830467 w 3161851"/>
              <a:gd name="connsiteY8" fmla="*/ 1515986 h 3221116"/>
              <a:gd name="connsiteX9" fmla="*/ 1477043 w 3161851"/>
              <a:gd name="connsiteY9" fmla="*/ 1144372 h 3221116"/>
              <a:gd name="connsiteX10" fmla="*/ 1651152 w 3161851"/>
              <a:gd name="connsiteY10" fmla="*/ 501 h 3221116"/>
              <a:gd name="connsiteX11" fmla="*/ 2580395 w 3161851"/>
              <a:gd name="connsiteY11" fmla="*/ 324821 h 3221116"/>
              <a:gd name="connsiteX12" fmla="*/ 3030464 w 3161851"/>
              <a:gd name="connsiteY12" fmla="*/ 2249544 h 3221116"/>
              <a:gd name="connsiteX13" fmla="*/ 2585849 w 3161851"/>
              <a:gd name="connsiteY13" fmla="*/ 2588887 h 3221116"/>
              <a:gd name="connsiteX14" fmla="*/ 1973374 w 3161851"/>
              <a:gd name="connsiteY14" fmla="*/ 2195096 h 3221116"/>
              <a:gd name="connsiteX15" fmla="*/ 1390827 w 3161851"/>
              <a:gd name="connsiteY15" fmla="*/ 2527630 h 3221116"/>
              <a:gd name="connsiteX16" fmla="*/ 783896 w 3161851"/>
              <a:gd name="connsiteY16" fmla="*/ 1665044 h 3221116"/>
              <a:gd name="connsiteX17" fmla="*/ 1268509 w 3161851"/>
              <a:gd name="connsiteY17" fmla="*/ 819983 h 3221116"/>
              <a:gd name="connsiteX18" fmla="*/ 1328805 w 3161851"/>
              <a:gd name="connsiteY18" fmla="*/ 807930 h 3221116"/>
              <a:gd name="connsiteX19" fmla="*/ 1390827 w 3161851"/>
              <a:gd name="connsiteY19" fmla="*/ 802457 h 3221116"/>
              <a:gd name="connsiteX20" fmla="*/ 1462242 w 3161851"/>
              <a:gd name="connsiteY20" fmla="*/ 801708 h 3221116"/>
              <a:gd name="connsiteX21" fmla="*/ 1956122 w 3161851"/>
              <a:gd name="connsiteY21" fmla="*/ 1110076 h 3221116"/>
              <a:gd name="connsiteX22" fmla="*/ 1973374 w 3161851"/>
              <a:gd name="connsiteY22" fmla="*/ 875315 h 3221116"/>
              <a:gd name="connsiteX23" fmla="*/ 2333414 w 3161851"/>
              <a:gd name="connsiteY23" fmla="*/ 875315 h 3221116"/>
              <a:gd name="connsiteX24" fmla="*/ 2324788 w 3161851"/>
              <a:gd name="connsiteY24" fmla="*/ 2054049 h 3221116"/>
              <a:gd name="connsiteX25" fmla="*/ 2661746 w 3161851"/>
              <a:gd name="connsiteY25" fmla="*/ 2179658 h 3221116"/>
              <a:gd name="connsiteX26" fmla="*/ 2691046 w 3161851"/>
              <a:gd name="connsiteY26" fmla="*/ 2188689 h 3221116"/>
              <a:gd name="connsiteX27" fmla="*/ 2667011 w 3161851"/>
              <a:gd name="connsiteY27" fmla="*/ 2175828 h 3221116"/>
              <a:gd name="connsiteX28" fmla="*/ 2332141 w 3161851"/>
              <a:gd name="connsiteY28" fmla="*/ 653899 h 3221116"/>
              <a:gd name="connsiteX29" fmla="*/ 776764 w 3161851"/>
              <a:gd name="connsiteY29" fmla="*/ 749845 h 3221116"/>
              <a:gd name="connsiteX30" fmla="*/ 631487 w 3161851"/>
              <a:gd name="connsiteY30" fmla="*/ 2301392 h 3221116"/>
              <a:gd name="connsiteX31" fmla="*/ 2142017 w 3161851"/>
              <a:gd name="connsiteY31" fmla="*/ 2684410 h 3221116"/>
              <a:gd name="connsiteX32" fmla="*/ 2324866 w 3161851"/>
              <a:gd name="connsiteY32" fmla="*/ 3053856 h 3221116"/>
              <a:gd name="connsiteX33" fmla="*/ 294693 w 3161851"/>
              <a:gd name="connsiteY33" fmla="*/ 2539075 h 3221116"/>
              <a:gd name="connsiteX34" fmla="*/ 489947 w 3161851"/>
              <a:gd name="connsiteY34" fmla="*/ 453774 h 3221116"/>
              <a:gd name="connsiteX35" fmla="*/ 1651152 w 3161851"/>
              <a:gd name="connsiteY35" fmla="*/ 501 h 3221116"/>
              <a:gd name="connsiteX0" fmla="*/ 2664630 w 3182629"/>
              <a:gd name="connsiteY0" fmla="*/ 2175617 h 3221116"/>
              <a:gd name="connsiteX1" fmla="*/ 2658205 w 3182629"/>
              <a:gd name="connsiteY1" fmla="*/ 2178566 h 3221116"/>
              <a:gd name="connsiteX2" fmla="*/ 2664630 w 3182629"/>
              <a:gd name="connsiteY2" fmla="*/ 2175617 h 3221116"/>
              <a:gd name="connsiteX3" fmla="*/ 1477043 w 3182629"/>
              <a:gd name="connsiteY3" fmla="*/ 1144372 h 3221116"/>
              <a:gd name="connsiteX4" fmla="*/ 1409070 w 3182629"/>
              <a:gd name="connsiteY4" fmla="*/ 1159393 h 3221116"/>
              <a:gd name="connsiteX5" fmla="*/ 1152384 w 3182629"/>
              <a:gd name="connsiteY5" fmla="*/ 1703728 h 3221116"/>
              <a:gd name="connsiteX6" fmla="*/ 1514013 w 3182629"/>
              <a:gd name="connsiteY6" fmla="*/ 2152290 h 3221116"/>
              <a:gd name="connsiteX7" fmla="*/ 1850815 w 3182629"/>
              <a:gd name="connsiteY7" fmla="*/ 1654259 h 3221116"/>
              <a:gd name="connsiteX8" fmla="*/ 1830467 w 3182629"/>
              <a:gd name="connsiteY8" fmla="*/ 1515986 h 3221116"/>
              <a:gd name="connsiteX9" fmla="*/ 1477043 w 3182629"/>
              <a:gd name="connsiteY9" fmla="*/ 1144372 h 3221116"/>
              <a:gd name="connsiteX10" fmla="*/ 1651152 w 3182629"/>
              <a:gd name="connsiteY10" fmla="*/ 501 h 3221116"/>
              <a:gd name="connsiteX11" fmla="*/ 2580395 w 3182629"/>
              <a:gd name="connsiteY11" fmla="*/ 324821 h 3221116"/>
              <a:gd name="connsiteX12" fmla="*/ 3030464 w 3182629"/>
              <a:gd name="connsiteY12" fmla="*/ 2249544 h 3221116"/>
              <a:gd name="connsiteX13" fmla="*/ 2585849 w 3182629"/>
              <a:gd name="connsiteY13" fmla="*/ 2588887 h 3221116"/>
              <a:gd name="connsiteX14" fmla="*/ 1973374 w 3182629"/>
              <a:gd name="connsiteY14" fmla="*/ 2195096 h 3221116"/>
              <a:gd name="connsiteX15" fmla="*/ 1390827 w 3182629"/>
              <a:gd name="connsiteY15" fmla="*/ 2527630 h 3221116"/>
              <a:gd name="connsiteX16" fmla="*/ 783896 w 3182629"/>
              <a:gd name="connsiteY16" fmla="*/ 1665044 h 3221116"/>
              <a:gd name="connsiteX17" fmla="*/ 1268509 w 3182629"/>
              <a:gd name="connsiteY17" fmla="*/ 819983 h 3221116"/>
              <a:gd name="connsiteX18" fmla="*/ 1328805 w 3182629"/>
              <a:gd name="connsiteY18" fmla="*/ 807930 h 3221116"/>
              <a:gd name="connsiteX19" fmla="*/ 1390827 w 3182629"/>
              <a:gd name="connsiteY19" fmla="*/ 802457 h 3221116"/>
              <a:gd name="connsiteX20" fmla="*/ 1462242 w 3182629"/>
              <a:gd name="connsiteY20" fmla="*/ 801708 h 3221116"/>
              <a:gd name="connsiteX21" fmla="*/ 1956122 w 3182629"/>
              <a:gd name="connsiteY21" fmla="*/ 1110076 h 3221116"/>
              <a:gd name="connsiteX22" fmla="*/ 1973374 w 3182629"/>
              <a:gd name="connsiteY22" fmla="*/ 875315 h 3221116"/>
              <a:gd name="connsiteX23" fmla="*/ 2333414 w 3182629"/>
              <a:gd name="connsiteY23" fmla="*/ 875315 h 3221116"/>
              <a:gd name="connsiteX24" fmla="*/ 2324788 w 3182629"/>
              <a:gd name="connsiteY24" fmla="*/ 2054049 h 3221116"/>
              <a:gd name="connsiteX25" fmla="*/ 2661746 w 3182629"/>
              <a:gd name="connsiteY25" fmla="*/ 2179658 h 3221116"/>
              <a:gd name="connsiteX26" fmla="*/ 2691046 w 3182629"/>
              <a:gd name="connsiteY26" fmla="*/ 2188689 h 3221116"/>
              <a:gd name="connsiteX27" fmla="*/ 2667011 w 3182629"/>
              <a:gd name="connsiteY27" fmla="*/ 2175828 h 3221116"/>
              <a:gd name="connsiteX28" fmla="*/ 2332141 w 3182629"/>
              <a:gd name="connsiteY28" fmla="*/ 653899 h 3221116"/>
              <a:gd name="connsiteX29" fmla="*/ 776764 w 3182629"/>
              <a:gd name="connsiteY29" fmla="*/ 749845 h 3221116"/>
              <a:gd name="connsiteX30" fmla="*/ 631487 w 3182629"/>
              <a:gd name="connsiteY30" fmla="*/ 2301392 h 3221116"/>
              <a:gd name="connsiteX31" fmla="*/ 2142017 w 3182629"/>
              <a:gd name="connsiteY31" fmla="*/ 2684410 h 3221116"/>
              <a:gd name="connsiteX32" fmla="*/ 2324866 w 3182629"/>
              <a:gd name="connsiteY32" fmla="*/ 3053856 h 3221116"/>
              <a:gd name="connsiteX33" fmla="*/ 294693 w 3182629"/>
              <a:gd name="connsiteY33" fmla="*/ 2539075 h 3221116"/>
              <a:gd name="connsiteX34" fmla="*/ 489947 w 3182629"/>
              <a:gd name="connsiteY34" fmla="*/ 453774 h 3221116"/>
              <a:gd name="connsiteX35" fmla="*/ 1651152 w 3182629"/>
              <a:gd name="connsiteY35" fmla="*/ 501 h 3221116"/>
              <a:gd name="connsiteX0" fmla="*/ 2664630 w 3189723"/>
              <a:gd name="connsiteY0" fmla="*/ 2175617 h 3221116"/>
              <a:gd name="connsiteX1" fmla="*/ 2658205 w 3189723"/>
              <a:gd name="connsiteY1" fmla="*/ 2178566 h 3221116"/>
              <a:gd name="connsiteX2" fmla="*/ 2664630 w 3189723"/>
              <a:gd name="connsiteY2" fmla="*/ 2175617 h 3221116"/>
              <a:gd name="connsiteX3" fmla="*/ 1477043 w 3189723"/>
              <a:gd name="connsiteY3" fmla="*/ 1144372 h 3221116"/>
              <a:gd name="connsiteX4" fmla="*/ 1409070 w 3189723"/>
              <a:gd name="connsiteY4" fmla="*/ 1159393 h 3221116"/>
              <a:gd name="connsiteX5" fmla="*/ 1152384 w 3189723"/>
              <a:gd name="connsiteY5" fmla="*/ 1703728 h 3221116"/>
              <a:gd name="connsiteX6" fmla="*/ 1514013 w 3189723"/>
              <a:gd name="connsiteY6" fmla="*/ 2152290 h 3221116"/>
              <a:gd name="connsiteX7" fmla="*/ 1850815 w 3189723"/>
              <a:gd name="connsiteY7" fmla="*/ 1654259 h 3221116"/>
              <a:gd name="connsiteX8" fmla="*/ 1830467 w 3189723"/>
              <a:gd name="connsiteY8" fmla="*/ 1515986 h 3221116"/>
              <a:gd name="connsiteX9" fmla="*/ 1477043 w 3189723"/>
              <a:gd name="connsiteY9" fmla="*/ 1144372 h 3221116"/>
              <a:gd name="connsiteX10" fmla="*/ 1651152 w 3189723"/>
              <a:gd name="connsiteY10" fmla="*/ 501 h 3221116"/>
              <a:gd name="connsiteX11" fmla="*/ 2580395 w 3189723"/>
              <a:gd name="connsiteY11" fmla="*/ 324821 h 3221116"/>
              <a:gd name="connsiteX12" fmla="*/ 3030464 w 3189723"/>
              <a:gd name="connsiteY12" fmla="*/ 2249544 h 3221116"/>
              <a:gd name="connsiteX13" fmla="*/ 2585849 w 3189723"/>
              <a:gd name="connsiteY13" fmla="*/ 2588887 h 3221116"/>
              <a:gd name="connsiteX14" fmla="*/ 1973374 w 3189723"/>
              <a:gd name="connsiteY14" fmla="*/ 2195096 h 3221116"/>
              <a:gd name="connsiteX15" fmla="*/ 1390827 w 3189723"/>
              <a:gd name="connsiteY15" fmla="*/ 2527630 h 3221116"/>
              <a:gd name="connsiteX16" fmla="*/ 783896 w 3189723"/>
              <a:gd name="connsiteY16" fmla="*/ 1665044 h 3221116"/>
              <a:gd name="connsiteX17" fmla="*/ 1268509 w 3189723"/>
              <a:gd name="connsiteY17" fmla="*/ 819983 h 3221116"/>
              <a:gd name="connsiteX18" fmla="*/ 1328805 w 3189723"/>
              <a:gd name="connsiteY18" fmla="*/ 807930 h 3221116"/>
              <a:gd name="connsiteX19" fmla="*/ 1390827 w 3189723"/>
              <a:gd name="connsiteY19" fmla="*/ 802457 h 3221116"/>
              <a:gd name="connsiteX20" fmla="*/ 1462242 w 3189723"/>
              <a:gd name="connsiteY20" fmla="*/ 801708 h 3221116"/>
              <a:gd name="connsiteX21" fmla="*/ 1956122 w 3189723"/>
              <a:gd name="connsiteY21" fmla="*/ 1110076 h 3221116"/>
              <a:gd name="connsiteX22" fmla="*/ 1973374 w 3189723"/>
              <a:gd name="connsiteY22" fmla="*/ 875315 h 3221116"/>
              <a:gd name="connsiteX23" fmla="*/ 2333414 w 3189723"/>
              <a:gd name="connsiteY23" fmla="*/ 875315 h 3221116"/>
              <a:gd name="connsiteX24" fmla="*/ 2324788 w 3189723"/>
              <a:gd name="connsiteY24" fmla="*/ 2054049 h 3221116"/>
              <a:gd name="connsiteX25" fmla="*/ 2661746 w 3189723"/>
              <a:gd name="connsiteY25" fmla="*/ 2179658 h 3221116"/>
              <a:gd name="connsiteX26" fmla="*/ 2691046 w 3189723"/>
              <a:gd name="connsiteY26" fmla="*/ 2188689 h 3221116"/>
              <a:gd name="connsiteX27" fmla="*/ 2667011 w 3189723"/>
              <a:gd name="connsiteY27" fmla="*/ 2175828 h 3221116"/>
              <a:gd name="connsiteX28" fmla="*/ 2332141 w 3189723"/>
              <a:gd name="connsiteY28" fmla="*/ 653899 h 3221116"/>
              <a:gd name="connsiteX29" fmla="*/ 776764 w 3189723"/>
              <a:gd name="connsiteY29" fmla="*/ 749845 h 3221116"/>
              <a:gd name="connsiteX30" fmla="*/ 631487 w 3189723"/>
              <a:gd name="connsiteY30" fmla="*/ 2301392 h 3221116"/>
              <a:gd name="connsiteX31" fmla="*/ 2142017 w 3189723"/>
              <a:gd name="connsiteY31" fmla="*/ 2684410 h 3221116"/>
              <a:gd name="connsiteX32" fmla="*/ 2324866 w 3189723"/>
              <a:gd name="connsiteY32" fmla="*/ 3053856 h 3221116"/>
              <a:gd name="connsiteX33" fmla="*/ 294693 w 3189723"/>
              <a:gd name="connsiteY33" fmla="*/ 2539075 h 3221116"/>
              <a:gd name="connsiteX34" fmla="*/ 489947 w 3189723"/>
              <a:gd name="connsiteY34" fmla="*/ 453774 h 3221116"/>
              <a:gd name="connsiteX35" fmla="*/ 1651152 w 3189723"/>
              <a:gd name="connsiteY35" fmla="*/ 501 h 322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66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0634" y="1676015"/>
            <a:ext cx="2024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u="sng" dirty="0"/>
              <a:t>daalabireda@gmail.com</a:t>
            </a:r>
            <a:endParaRPr lang="fr-FR" sz="1400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2866883" y="2068339"/>
            <a:ext cx="42095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fr-FR" sz="1400" u="sn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https://www.linkedin.com/in/reda-daalabi-1535ab1bb/</a:t>
            </a:r>
            <a:endParaRPr lang="fr-FR" sz="1400" u="sng" dirty="0"/>
          </a:p>
        </p:txBody>
      </p:sp>
      <p:sp>
        <p:nvSpPr>
          <p:cNvPr id="42" name="Rounded Rectangle 7">
            <a:extLst>
              <a:ext uri="{FF2B5EF4-FFF2-40B4-BE49-F238E27FC236}">
                <a16:creationId xmlns:a16="http://schemas.microsoft.com/office/drawing/2014/main" id="{11202DC9-4665-4382-BB58-6AB93DD393AF}"/>
              </a:ext>
            </a:extLst>
          </p:cNvPr>
          <p:cNvSpPr/>
          <p:nvPr/>
        </p:nvSpPr>
        <p:spPr>
          <a:xfrm>
            <a:off x="223155" y="2047410"/>
            <a:ext cx="158114" cy="271361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663" tIns="46831" rIns="93663" bIns="4683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66"/>
          </a:p>
        </p:txBody>
      </p:sp>
      <p:sp>
        <p:nvSpPr>
          <p:cNvPr id="43" name="TextBox 14">
            <a:extLst>
              <a:ext uri="{FF2B5EF4-FFF2-40B4-BE49-F238E27FC236}">
                <a16:creationId xmlns:a16="http://schemas.microsoft.com/office/drawing/2014/main" id="{37F50C90-08E9-4F25-B4ED-DDDEC8677F9E}"/>
              </a:ext>
            </a:extLst>
          </p:cNvPr>
          <p:cNvSpPr txBox="1"/>
          <p:nvPr/>
        </p:nvSpPr>
        <p:spPr>
          <a:xfrm>
            <a:off x="381276" y="2025468"/>
            <a:ext cx="175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+212 6 91 52 08 92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0666766A-1632-442E-B556-0ECF88E678F9}"/>
              </a:ext>
            </a:extLst>
          </p:cNvPr>
          <p:cNvSpPr txBox="1"/>
          <p:nvPr/>
        </p:nvSpPr>
        <p:spPr>
          <a:xfrm>
            <a:off x="7917574" y="1721647"/>
            <a:ext cx="2679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u="sng" dirty="0"/>
              <a:t>https://github.com/redaDaalabi2/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ACC7C96-546F-49ED-8457-F1560FF0B9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086" y="1755081"/>
            <a:ext cx="252000" cy="25200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E420165-8330-7AC1-1C30-F3B18F9649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264" y="2098695"/>
            <a:ext cx="252000" cy="252000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CB748949-C73C-9FB4-C400-999C567817AA}"/>
              </a:ext>
            </a:extLst>
          </p:cNvPr>
          <p:cNvSpPr txBox="1"/>
          <p:nvPr/>
        </p:nvSpPr>
        <p:spPr>
          <a:xfrm>
            <a:off x="7939328" y="2064387"/>
            <a:ext cx="24398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MA" sz="1400" u="sng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https://redadaalabi.vercel.app</a:t>
            </a:r>
            <a:endParaRPr lang="fr-MA" sz="1400" u="sng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576EF2DC-EFCF-2F35-70F6-AEFE20A9EDFB}"/>
              </a:ext>
            </a:extLst>
          </p:cNvPr>
          <p:cNvCxnSpPr>
            <a:cxnSpLocks/>
          </p:cNvCxnSpPr>
          <p:nvPr/>
        </p:nvCxnSpPr>
        <p:spPr>
          <a:xfrm>
            <a:off x="-1" y="2478070"/>
            <a:ext cx="10799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B36AADF8-0B41-EAB4-4C21-C8E91DA82DDE}"/>
              </a:ext>
            </a:extLst>
          </p:cNvPr>
          <p:cNvCxnSpPr>
            <a:cxnSpLocks/>
          </p:cNvCxnSpPr>
          <p:nvPr/>
        </p:nvCxnSpPr>
        <p:spPr>
          <a:xfrm flipV="1">
            <a:off x="0" y="1611404"/>
            <a:ext cx="10749280" cy="11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bject 17">
            <a:extLst>
              <a:ext uri="{FF2B5EF4-FFF2-40B4-BE49-F238E27FC236}">
                <a16:creationId xmlns:a16="http://schemas.microsoft.com/office/drawing/2014/main" id="{8F568B26-9242-737B-A008-86C283BBBE26}"/>
              </a:ext>
            </a:extLst>
          </p:cNvPr>
          <p:cNvSpPr txBox="1"/>
          <p:nvPr/>
        </p:nvSpPr>
        <p:spPr>
          <a:xfrm>
            <a:off x="290565" y="2546314"/>
            <a:ext cx="3250921" cy="3500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spcBef>
                <a:spcPts val="90"/>
              </a:spcBef>
              <a:defRPr/>
            </a:pPr>
            <a:r>
              <a:rPr lang="fr-MA" sz="2200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FORMATIONS ET DIPLÔMES 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4F37C7B-80A5-0747-463B-A38D6DD5D604}"/>
              </a:ext>
            </a:extLst>
          </p:cNvPr>
          <p:cNvSpPr txBox="1"/>
          <p:nvPr/>
        </p:nvSpPr>
        <p:spPr>
          <a:xfrm>
            <a:off x="219569" y="2970568"/>
            <a:ext cx="10377847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+mn-cs"/>
              </a:rPr>
              <a:t>2021-2023</a:t>
            </a:r>
            <a:r>
              <a:rPr kumimoji="0" lang="fr-FR" sz="1800" b="1" i="0" u="none" strike="noStrike" kern="1200" cap="none" spc="-5" normalizeH="0" baseline="0" noProof="0" dirty="0">
                <a:ln>
                  <a:noFill/>
                </a:ln>
                <a:solidFill>
                  <a:srgbClr val="5E996C"/>
                </a:solidFill>
                <a:effectLst/>
                <a:uLnTx/>
                <a:uFillTx/>
                <a:latin typeface="Carlito"/>
                <a:ea typeface="+mn-ea"/>
                <a:cs typeface="+mn-cs"/>
              </a:rPr>
              <a:t> </a:t>
            </a:r>
            <a:r>
              <a:rPr kumimoji="0" lang="fr-FR" sz="1800" b="1" i="0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rlito"/>
                <a:ea typeface="+mn-ea"/>
                <a:cs typeface="+mn-cs"/>
              </a:rPr>
              <a:t>– </a:t>
            </a:r>
            <a:r>
              <a:rPr lang="fr-MA" b="1" spc="-20" noProof="1">
                <a:solidFill>
                  <a:srgbClr val="0070C0"/>
                </a:solidFill>
                <a:latin typeface="Carlito"/>
              </a:rPr>
              <a:t>YouCode</a:t>
            </a:r>
            <a:r>
              <a:rPr kumimoji="0" lang="fr-FR" sz="1800" b="1" i="0" u="none" strike="noStrike" kern="1200" cap="none" spc="-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| Safi (OCP / SIMPLON)</a:t>
            </a:r>
          </a:p>
          <a:p>
            <a:pPr marL="0" marR="0" lvl="0" indent="0" algn="just" defTabSz="4572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lang="fr-FR" sz="1600" spc="-20" dirty="0">
                <a:solidFill>
                  <a:prstClr val="black"/>
                </a:solidFill>
                <a:latin typeface="Carlito"/>
              </a:rPr>
              <a:t>Développeur Web / Web Mobile &amp; Concepteur D’applications.</a:t>
            </a:r>
          </a:p>
          <a:p>
            <a:pPr marL="0" marR="0" lvl="0" indent="0" algn="just" defTabSz="4572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+mn-cs"/>
              </a:rPr>
              <a:t>2019-2021</a:t>
            </a:r>
            <a:r>
              <a:rPr kumimoji="0" lang="fr-FR" sz="1800" b="1" i="0" u="none" strike="noStrike" kern="1200" cap="none" spc="-5" normalizeH="0" baseline="0" noProof="0" dirty="0">
                <a:ln>
                  <a:noFill/>
                </a:ln>
                <a:solidFill>
                  <a:srgbClr val="5E996C"/>
                </a:solidFill>
                <a:effectLst/>
                <a:uLnTx/>
                <a:uFillTx/>
                <a:latin typeface="Carlito"/>
                <a:ea typeface="+mn-ea"/>
                <a:cs typeface="+mn-cs"/>
              </a:rPr>
              <a:t> </a:t>
            </a:r>
            <a:r>
              <a:rPr kumimoji="0" lang="fr-FR" sz="1800" b="1" i="0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rlito"/>
                <a:ea typeface="+mn-ea"/>
                <a:cs typeface="+mn-cs"/>
              </a:rPr>
              <a:t>– École Supérieure de Technologie </a:t>
            </a:r>
            <a:r>
              <a:rPr kumimoji="0" lang="fr-FR" sz="1800" b="1" i="0" u="none" strike="noStrike" kern="1200" cap="none" spc="-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| Safi</a:t>
            </a:r>
          </a:p>
          <a:p>
            <a:pPr algn="l"/>
            <a:r>
              <a:rPr kumimoji="0" lang="fr-FR" sz="1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Diplôme Universitaire de Technologie (DUT) en </a:t>
            </a:r>
            <a:r>
              <a:rPr lang="fr-MA" sz="1600" spc="-20" dirty="0">
                <a:solidFill>
                  <a:prstClr val="black"/>
                </a:solidFill>
                <a:latin typeface="Carlito"/>
              </a:rPr>
              <a:t>Génie Informatique, option : Administration des systèmes de réseaux.</a:t>
            </a:r>
            <a:endParaRPr lang="fr-FR" sz="1600" spc="-20" dirty="0">
              <a:solidFill>
                <a:prstClr val="black"/>
              </a:solidFill>
              <a:latin typeface="Carlito"/>
            </a:endParaRPr>
          </a:p>
          <a:p>
            <a:pPr marL="0" marR="0" lvl="0" indent="0" algn="just" defTabSz="4572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+mn-cs"/>
              </a:rPr>
              <a:t>2019</a:t>
            </a:r>
            <a:r>
              <a:rPr kumimoji="0" lang="fr-FR" sz="1800" b="1" i="0" u="none" strike="noStrike" kern="1200" cap="none" spc="-5" normalizeH="0" baseline="0" noProof="0" dirty="0">
                <a:ln>
                  <a:noFill/>
                </a:ln>
                <a:solidFill>
                  <a:srgbClr val="5E996C"/>
                </a:solidFill>
                <a:effectLst/>
                <a:uLnTx/>
                <a:uFillTx/>
                <a:latin typeface="Carlito"/>
                <a:ea typeface="+mn-ea"/>
                <a:cs typeface="+mn-cs"/>
              </a:rPr>
              <a:t> </a:t>
            </a:r>
            <a:r>
              <a:rPr kumimoji="0" lang="fr-FR" sz="1800" b="1" i="0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rlito"/>
                <a:ea typeface="+mn-ea"/>
                <a:cs typeface="+mn-cs"/>
              </a:rPr>
              <a:t>– Lycée Salah Eddine Al Ayoubi </a:t>
            </a:r>
            <a:r>
              <a:rPr kumimoji="0" lang="fr-FR" sz="1800" b="1" i="0" u="none" strike="noStrike" kern="1200" cap="none" spc="-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| Safi</a:t>
            </a:r>
          </a:p>
          <a:p>
            <a:pPr marL="0" marR="0" lvl="0" indent="0" algn="just" defTabSz="4572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+mn-cs"/>
              </a:rPr>
              <a:t>Baccalauréat scientifique, spécialité : Sciences Expérimentales, option : Sciences Physiques.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29EB6CB1-C01D-F4F6-F4B5-86917ECDBDA8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3541486" y="2721362"/>
            <a:ext cx="7258277" cy="92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bject 17">
            <a:extLst>
              <a:ext uri="{FF2B5EF4-FFF2-40B4-BE49-F238E27FC236}">
                <a16:creationId xmlns:a16="http://schemas.microsoft.com/office/drawing/2014/main" id="{2B5FF5DD-DF7E-1B07-2CB7-8D06DF7601F3}"/>
              </a:ext>
            </a:extLst>
          </p:cNvPr>
          <p:cNvSpPr txBox="1"/>
          <p:nvPr/>
        </p:nvSpPr>
        <p:spPr>
          <a:xfrm>
            <a:off x="290566" y="5016039"/>
            <a:ext cx="4322075" cy="3808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spcBef>
                <a:spcPts val="90"/>
              </a:spcBef>
              <a:defRPr/>
            </a:pPr>
            <a:r>
              <a:rPr lang="fr-FR" sz="2400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EXPÉRIENCES PROFESSIONNELLES</a:t>
            </a:r>
          </a:p>
        </p:txBody>
      </p: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7490D0EC-6986-780A-17DB-F2B280DB304B}"/>
              </a:ext>
            </a:extLst>
          </p:cNvPr>
          <p:cNvCxnSpPr>
            <a:cxnSpLocks/>
            <a:stCxn id="38" idx="3"/>
          </p:cNvCxnSpPr>
          <p:nvPr/>
        </p:nvCxnSpPr>
        <p:spPr>
          <a:xfrm flipV="1">
            <a:off x="4612641" y="5200317"/>
            <a:ext cx="6187123" cy="61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A0F00F49-7F53-19C7-5B7D-86AD38AAE80F}"/>
              </a:ext>
            </a:extLst>
          </p:cNvPr>
          <p:cNvSpPr txBox="1"/>
          <p:nvPr/>
        </p:nvSpPr>
        <p:spPr>
          <a:xfrm>
            <a:off x="576664" y="15075371"/>
            <a:ext cx="47133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u="sng" spc="5" dirty="0">
                <a:solidFill>
                  <a:prstClr val="black"/>
                </a:solidFill>
                <a:latin typeface="Carlito"/>
              </a:rPr>
              <a:t>https://github.com/redaDaalabi2/TRACK-TOM-younes-reda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E530550E-3E10-ED04-2387-9267B29C93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30" y="15101098"/>
            <a:ext cx="252000" cy="252000"/>
          </a:xfrm>
          <a:prstGeom prst="rect">
            <a:avLst/>
          </a:prstGeom>
        </p:spPr>
      </p:pic>
      <p:sp>
        <p:nvSpPr>
          <p:cNvPr id="52" name="TextBox 18">
            <a:extLst>
              <a:ext uri="{FF2B5EF4-FFF2-40B4-BE49-F238E27FC236}">
                <a16:creationId xmlns:a16="http://schemas.microsoft.com/office/drawing/2014/main" id="{01A83C83-B1F0-D98A-2134-E5C97F65DCDA}"/>
              </a:ext>
            </a:extLst>
          </p:cNvPr>
          <p:cNvSpPr txBox="1"/>
          <p:nvPr/>
        </p:nvSpPr>
        <p:spPr>
          <a:xfrm>
            <a:off x="207240" y="13485014"/>
            <a:ext cx="10377847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0" lang="fr-FR" sz="1800" b="1" i="0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rlito"/>
                <a:ea typeface="+mn-ea"/>
                <a:cs typeface="+mn-cs"/>
              </a:rPr>
              <a:t>Stage </a:t>
            </a:r>
            <a:r>
              <a:rPr lang="fr-FR" sz="1800" b="1" i="0" kern="1200" spc="-5" baseline="0" dirty="0">
                <a:ln>
                  <a:noFill/>
                </a:ln>
                <a:solidFill>
                  <a:srgbClr val="0070C0"/>
                </a:solidFill>
                <a:effectLst/>
                <a:latin typeface="Carlito"/>
                <a:ea typeface="+mn-ea"/>
                <a:cs typeface="+mn-cs"/>
              </a:rPr>
              <a:t>d’application Youcode | ITINFODEV - Agadir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b="1" spc="-20" dirty="0">
                <a:solidFill>
                  <a:prstClr val="black"/>
                </a:solidFill>
                <a:latin typeface="Carlito"/>
              </a:rPr>
              <a:t>Juillet 2022 – Août 2022 Projet TRACKTOM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Création du site TRACKTOM pour l'estimation des rendements de la tomate.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Développement d’un système d'envoi d'alertes phytosanitaires automatisées.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Analyse des rendements basée sur la couleur et le calibre des fruits.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7B32E3B7-664B-E42A-5DBD-FB064730845C}"/>
              </a:ext>
            </a:extLst>
          </p:cNvPr>
          <p:cNvSpPr txBox="1"/>
          <p:nvPr/>
        </p:nvSpPr>
        <p:spPr>
          <a:xfrm>
            <a:off x="213042" y="9968861"/>
            <a:ext cx="10365518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FR" b="1" spc="-5" dirty="0">
                <a:solidFill>
                  <a:srgbClr val="0070C0"/>
                </a:solidFill>
                <a:latin typeface="Carlito"/>
              </a:rPr>
              <a:t>Concepteur Développeur Java Spring/</a:t>
            </a:r>
            <a:r>
              <a:rPr lang="fr-FR" b="1" spc="-5" noProof="1">
                <a:solidFill>
                  <a:srgbClr val="0070C0"/>
                </a:solidFill>
                <a:latin typeface="Carlito"/>
              </a:rPr>
              <a:t>ReactJs</a:t>
            </a:r>
            <a:r>
              <a:rPr lang="fr-FR" b="1" spc="-5" dirty="0">
                <a:solidFill>
                  <a:srgbClr val="0070C0"/>
                </a:solidFill>
                <a:latin typeface="Carlito"/>
              </a:rPr>
              <a:t> | </a:t>
            </a:r>
            <a:r>
              <a:rPr lang="fr-FR" b="1" spc="-5" noProof="1">
                <a:solidFill>
                  <a:srgbClr val="0070C0"/>
                </a:solidFill>
                <a:latin typeface="Carlito"/>
              </a:rPr>
              <a:t>Cegedim</a:t>
            </a:r>
            <a:r>
              <a:rPr lang="fr-FR" b="1" spc="-5" dirty="0">
                <a:solidFill>
                  <a:srgbClr val="0070C0"/>
                </a:solidFill>
                <a:latin typeface="Carlito"/>
              </a:rPr>
              <a:t> </a:t>
            </a:r>
            <a:r>
              <a:rPr lang="fr-FR" b="1" spc="-5" noProof="1">
                <a:solidFill>
                  <a:srgbClr val="0070C0"/>
                </a:solidFill>
                <a:latin typeface="Carlito"/>
              </a:rPr>
              <a:t>Insurance</a:t>
            </a:r>
            <a:r>
              <a:rPr lang="fr-FR" b="1" spc="-5" dirty="0">
                <a:solidFill>
                  <a:srgbClr val="0070C0"/>
                </a:solidFill>
                <a:latin typeface="Carlito"/>
              </a:rPr>
              <a:t> Solutions - RABAT </a:t>
            </a:r>
          </a:p>
          <a:p>
            <a:pPr>
              <a:spcAft>
                <a:spcPts val="600"/>
              </a:spcAft>
            </a:pPr>
            <a:r>
              <a:rPr lang="fr-FR" sz="1600" b="1" spc="-20" dirty="0">
                <a:solidFill>
                  <a:prstClr val="black"/>
                </a:solidFill>
                <a:latin typeface="Carlito"/>
              </a:rPr>
              <a:t>14 Février 2023 – 29 Janvier 2024 Projet Beyond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Participation active au projet BEYOND chez </a:t>
            </a:r>
            <a:r>
              <a:rPr lang="fr-FR" sz="1600" spc="5" dirty="0" err="1">
                <a:solidFill>
                  <a:prstClr val="black"/>
                </a:solidFill>
                <a:latin typeface="Carlito"/>
              </a:rPr>
              <a:t>Cegedim</a:t>
            </a:r>
            <a:r>
              <a:rPr lang="fr-FR" sz="1600" spc="5" dirty="0">
                <a:solidFill>
                  <a:prstClr val="black"/>
                </a:solidFill>
                <a:latin typeface="Carlito"/>
              </a:rPr>
              <a:t>.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Travail sur les fonctionnalités et analyse des besoins clients.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Conception de bases de données et interfaces utilisateur.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Conception de l'architecture logicielle et développement du code source.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Réalisation de tests unitaires, d'intégration, et validation des fonctionnalités.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Déploiement en environnement de production local et maintenance continue.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Support technique aux utilisateurs finaux.</a:t>
            </a:r>
          </a:p>
          <a:p>
            <a:pPr algn="just">
              <a:spcAft>
                <a:spcPts val="600"/>
              </a:spcAft>
              <a:defRPr/>
            </a:pPr>
            <a:r>
              <a:rPr lang="en-US" sz="1600" spc="5" dirty="0">
                <a:solidFill>
                  <a:prstClr val="black"/>
                </a:solidFill>
                <a:latin typeface="Carlito"/>
              </a:rPr>
              <a:t>- </a:t>
            </a:r>
            <a:r>
              <a:rPr lang="en-US" sz="1600" b="1" spc="5" dirty="0">
                <a:solidFill>
                  <a:prstClr val="black"/>
                </a:solidFill>
                <a:latin typeface="Carlito"/>
              </a:rPr>
              <a:t>Les technologies </a:t>
            </a:r>
            <a:r>
              <a:rPr lang="en-US" sz="1600" b="1" spc="5" dirty="0" err="1">
                <a:solidFill>
                  <a:prstClr val="black"/>
                </a:solidFill>
                <a:latin typeface="Carlito"/>
              </a:rPr>
              <a:t>utilisées</a:t>
            </a:r>
            <a:r>
              <a:rPr lang="en-US" sz="1600" b="1" spc="5" dirty="0">
                <a:solidFill>
                  <a:prstClr val="black"/>
                </a:solidFill>
                <a:latin typeface="Carlito"/>
              </a:rPr>
              <a:t> </a:t>
            </a:r>
            <a:r>
              <a:rPr lang="en-US" sz="1600" spc="5" dirty="0">
                <a:solidFill>
                  <a:prstClr val="black"/>
                </a:solidFill>
                <a:latin typeface="Carlito"/>
              </a:rPr>
              <a:t>: Java11/Spring/</a:t>
            </a:r>
            <a:r>
              <a:rPr lang="en-US" sz="1600" spc="5" dirty="0" err="1">
                <a:solidFill>
                  <a:prstClr val="black"/>
                </a:solidFill>
                <a:latin typeface="Carlito"/>
              </a:rPr>
              <a:t>SpringBoot</a:t>
            </a:r>
            <a:r>
              <a:rPr lang="en-US" sz="1600" spc="5" dirty="0">
                <a:solidFill>
                  <a:prstClr val="black"/>
                </a:solidFill>
                <a:latin typeface="Carlito"/>
              </a:rPr>
              <a:t>/</a:t>
            </a:r>
            <a:r>
              <a:rPr lang="en-US" sz="1600" spc="5" dirty="0" err="1">
                <a:solidFill>
                  <a:prstClr val="black"/>
                </a:solidFill>
                <a:latin typeface="Carlito"/>
              </a:rPr>
              <a:t>Reactclasses</a:t>
            </a:r>
            <a:r>
              <a:rPr lang="en-US" sz="1600" spc="5" dirty="0">
                <a:solidFill>
                  <a:prstClr val="black"/>
                </a:solidFill>
                <a:latin typeface="Carlito"/>
              </a:rPr>
              <a:t>/Grafana/Kafka/OpenSearch/PostgreSQL/MongoDB/ </a:t>
            </a:r>
            <a:r>
              <a:rPr lang="en-US" sz="1600" spc="5" dirty="0" err="1">
                <a:solidFill>
                  <a:prstClr val="black"/>
                </a:solidFill>
                <a:latin typeface="Carlito"/>
              </a:rPr>
              <a:t>ArgoCD</a:t>
            </a:r>
            <a:r>
              <a:rPr lang="en-US" sz="1600" spc="5" dirty="0">
                <a:solidFill>
                  <a:prstClr val="black"/>
                </a:solidFill>
                <a:latin typeface="Carlito"/>
              </a:rPr>
              <a:t>/GITLAB.</a:t>
            </a:r>
            <a:endParaRPr lang="fr-FR" sz="1600" spc="5" dirty="0">
              <a:solidFill>
                <a:prstClr val="black"/>
              </a:solidFill>
              <a:latin typeface="Carlito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4C6EEA4-7A5B-F57A-9209-8ADA76192919}"/>
              </a:ext>
            </a:extLst>
          </p:cNvPr>
          <p:cNvSpPr txBox="1"/>
          <p:nvPr/>
        </p:nvSpPr>
        <p:spPr>
          <a:xfrm>
            <a:off x="219569" y="7507798"/>
            <a:ext cx="10365518" cy="254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fr-FR" sz="1800" b="1" i="0" u="none" strike="noStrike" baseline="0" dirty="0">
                <a:solidFill>
                  <a:srgbClr val="006FC0"/>
                </a:solidFill>
                <a:latin typeface="Calibri" panose="020F0502020204030204" pitchFamily="34" charset="0"/>
              </a:rPr>
              <a:t>Concepteur Développeur Java </a:t>
            </a:r>
            <a:r>
              <a:rPr lang="fr-FR" sz="1800" b="1" i="0" u="none" strike="noStrike" baseline="0" dirty="0" err="1">
                <a:solidFill>
                  <a:srgbClr val="006FC0"/>
                </a:solidFill>
                <a:latin typeface="Calibri" panose="020F0502020204030204" pitchFamily="34" charset="0"/>
              </a:rPr>
              <a:t>SpringBoot</a:t>
            </a:r>
            <a:r>
              <a:rPr lang="fr-FR" sz="1800" b="1" i="0" u="none" strike="noStrike" baseline="0" dirty="0">
                <a:solidFill>
                  <a:srgbClr val="006FC0"/>
                </a:solidFill>
                <a:latin typeface="Calibri" panose="020F0502020204030204" pitchFamily="34" charset="0"/>
              </a:rPr>
              <a:t>/</a:t>
            </a:r>
            <a:r>
              <a:rPr lang="fr-MA" b="1" spc="-5" dirty="0" err="1">
                <a:solidFill>
                  <a:srgbClr val="0070C0"/>
                </a:solidFill>
                <a:latin typeface="Carlito"/>
              </a:rPr>
              <a:t>Vuejs</a:t>
            </a:r>
            <a:r>
              <a:rPr lang="fr-FR" b="1" spc="-5" dirty="0">
                <a:solidFill>
                  <a:srgbClr val="0070C0"/>
                </a:solidFill>
                <a:latin typeface="Carlito"/>
              </a:rPr>
              <a:t> | MWC PARTNERS - CASABLANCA</a:t>
            </a:r>
          </a:p>
          <a:p>
            <a:pPr>
              <a:spcAft>
                <a:spcPts val="300"/>
              </a:spcAft>
            </a:pPr>
            <a:r>
              <a:rPr lang="fr-FR" sz="1600" b="1" spc="-20" dirty="0">
                <a:solidFill>
                  <a:prstClr val="black"/>
                </a:solidFill>
                <a:latin typeface="Carlito"/>
              </a:rPr>
              <a:t>01 Février 2024 – 31 Janvier 2025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Designer &amp; Développeur spécialisé en </a:t>
            </a:r>
            <a:r>
              <a:rPr lang="fr-FR" sz="1600" spc="5" dirty="0" err="1">
                <a:solidFill>
                  <a:prstClr val="black"/>
                </a:solidFill>
                <a:latin typeface="Carlito"/>
              </a:rPr>
              <a:t>SpringBoot</a:t>
            </a:r>
            <a:r>
              <a:rPr lang="fr-FR" sz="1600" spc="5" dirty="0">
                <a:solidFill>
                  <a:prstClr val="black"/>
                </a:solidFill>
                <a:latin typeface="Carlito"/>
              </a:rPr>
              <a:t> (back-end) et </a:t>
            </a:r>
            <a:r>
              <a:rPr lang="fr-FR" sz="1600" spc="5" dirty="0" err="1">
                <a:solidFill>
                  <a:prstClr val="black"/>
                </a:solidFill>
                <a:latin typeface="Carlito"/>
              </a:rPr>
              <a:t>Vuejs</a:t>
            </a:r>
            <a:r>
              <a:rPr lang="fr-FR" sz="1600" spc="5" dirty="0">
                <a:solidFill>
                  <a:prstClr val="black"/>
                </a:solidFill>
                <a:latin typeface="Carlito"/>
              </a:rPr>
              <a:t> (front-end).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Analyse des besoins clients et conception d'applications web surmesure.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Développement d'applications fonctionnelles et de haute qualité.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Livraison de solutions innovantes dans le respect des délais.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Capacité à travailler de manière autonome sur divers projets.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b="1" spc="5" dirty="0">
                <a:solidFill>
                  <a:prstClr val="black"/>
                </a:solidFill>
                <a:latin typeface="Carlito"/>
              </a:rPr>
              <a:t>Les technologies utilisées : </a:t>
            </a:r>
            <a:r>
              <a:rPr lang="fr-FR" sz="1600" spc="5" dirty="0" err="1">
                <a:solidFill>
                  <a:prstClr val="black"/>
                </a:solidFill>
                <a:latin typeface="Carlito"/>
              </a:rPr>
              <a:t>SpringBoot</a:t>
            </a:r>
            <a:r>
              <a:rPr lang="fr-FR" sz="1600" spc="5" dirty="0">
                <a:solidFill>
                  <a:prstClr val="black"/>
                </a:solidFill>
                <a:latin typeface="Carlito"/>
              </a:rPr>
              <a:t>/</a:t>
            </a:r>
            <a:r>
              <a:rPr lang="fr-FR" sz="1600" spc="5" dirty="0" err="1">
                <a:solidFill>
                  <a:prstClr val="black"/>
                </a:solidFill>
                <a:latin typeface="Carlito"/>
              </a:rPr>
              <a:t>Vuejs</a:t>
            </a:r>
            <a:r>
              <a:rPr lang="fr-FR" sz="1600" spc="5" dirty="0">
                <a:solidFill>
                  <a:prstClr val="black"/>
                </a:solidFill>
                <a:latin typeface="Carlito"/>
              </a:rPr>
              <a:t>/PostgreSQL.</a:t>
            </a:r>
          </a:p>
        </p:txBody>
      </p:sp>
      <p:pic>
        <p:nvPicPr>
          <p:cNvPr id="11" name="Graphique 10" descr="Voiture">
            <a:extLst>
              <a:ext uri="{FF2B5EF4-FFF2-40B4-BE49-F238E27FC236}">
                <a16:creationId xmlns:a16="http://schemas.microsoft.com/office/drawing/2014/main" id="{382D7179-8173-7CB5-1C56-DD4BDA6428D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31944" y="1720524"/>
            <a:ext cx="331970" cy="331970"/>
          </a:xfrm>
          <a:prstGeom prst="rect">
            <a:avLst/>
          </a:prstGeom>
        </p:spPr>
      </p:pic>
      <p:sp>
        <p:nvSpPr>
          <p:cNvPr id="12" name="TextBox 14">
            <a:extLst>
              <a:ext uri="{FF2B5EF4-FFF2-40B4-BE49-F238E27FC236}">
                <a16:creationId xmlns:a16="http://schemas.microsoft.com/office/drawing/2014/main" id="{7C82EA26-B6B3-6F4A-B166-48334EF4FCDE}"/>
              </a:ext>
            </a:extLst>
          </p:cNvPr>
          <p:cNvSpPr txBox="1"/>
          <p:nvPr/>
        </p:nvSpPr>
        <p:spPr>
          <a:xfrm>
            <a:off x="2897096" y="1713864"/>
            <a:ext cx="25027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MA" sz="1400" dirty="0"/>
              <a:t>Permis de conduire </a:t>
            </a:r>
            <a:r>
              <a:rPr lang="fr-FR" sz="1400" dirty="0"/>
              <a:t>catégorie </a:t>
            </a:r>
            <a:r>
              <a:rPr lang="fr-MA" sz="1400" dirty="0"/>
              <a:t>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39C707-6A91-762E-C7E0-4F61825E596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7624" y="57517"/>
            <a:ext cx="1001102" cy="1507277"/>
          </a:xfrm>
          <a:prstGeom prst="rect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4" name="TextBox 5">
            <a:extLst>
              <a:ext uri="{FF2B5EF4-FFF2-40B4-BE49-F238E27FC236}">
                <a16:creationId xmlns:a16="http://schemas.microsoft.com/office/drawing/2014/main" id="{CD6EBC33-D4D0-B83E-B209-4908D08BE7FA}"/>
              </a:ext>
            </a:extLst>
          </p:cNvPr>
          <p:cNvSpPr txBox="1"/>
          <p:nvPr/>
        </p:nvSpPr>
        <p:spPr>
          <a:xfrm>
            <a:off x="1407794" y="194792"/>
            <a:ext cx="8449735" cy="1251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68" b="1" dirty="0">
                <a:latin typeface="+mj-lt"/>
              </a:rPr>
              <a:t>Concepteur Développeur Web Full Stack</a:t>
            </a:r>
          </a:p>
          <a:p>
            <a:pPr>
              <a:lnSpc>
                <a:spcPct val="150000"/>
              </a:lnSpc>
            </a:pPr>
            <a:r>
              <a:rPr lang="fr-FR" sz="2400" b="1" dirty="0">
                <a:latin typeface="+mj-lt"/>
              </a:rPr>
              <a:t>Reda DAALABI</a:t>
            </a:r>
            <a:endParaRPr lang="fr-FR" sz="140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073B56B-5286-87B4-A38C-FABF25EF3BC5}"/>
              </a:ext>
            </a:extLst>
          </p:cNvPr>
          <p:cNvSpPr txBox="1"/>
          <p:nvPr/>
        </p:nvSpPr>
        <p:spPr>
          <a:xfrm>
            <a:off x="226164" y="5402773"/>
            <a:ext cx="10365518" cy="2223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fr-MA" b="1" dirty="0">
                <a:solidFill>
                  <a:srgbClr val="006FC0"/>
                </a:solidFill>
                <a:latin typeface="Calibri" panose="020F0502020204030204" pitchFamily="34" charset="0"/>
              </a:rPr>
              <a:t>Ingénieur Étude Et Développement</a:t>
            </a:r>
            <a:r>
              <a:rPr lang="fr-FR" b="1" dirty="0">
                <a:solidFill>
                  <a:srgbClr val="006FC0"/>
                </a:solidFill>
                <a:latin typeface="Calibri" panose="020F0502020204030204" pitchFamily="34" charset="0"/>
              </a:rPr>
              <a:t> </a:t>
            </a:r>
            <a:r>
              <a:rPr lang="fr-FR" b="1" spc="-5" dirty="0">
                <a:solidFill>
                  <a:srgbClr val="0070C0"/>
                </a:solidFill>
                <a:latin typeface="Carlito"/>
              </a:rPr>
              <a:t>| XPI ( </a:t>
            </a:r>
            <a:r>
              <a:rPr lang="fr-MA" b="1" spc="-5" dirty="0" err="1">
                <a:solidFill>
                  <a:srgbClr val="0070C0"/>
                </a:solidFill>
                <a:latin typeface="Carlito"/>
              </a:rPr>
              <a:t>Expanded</a:t>
            </a:r>
            <a:r>
              <a:rPr lang="fr-MA" b="1" spc="-5" dirty="0">
                <a:solidFill>
                  <a:srgbClr val="0070C0"/>
                </a:solidFill>
                <a:latin typeface="Carlito"/>
              </a:rPr>
              <a:t> </a:t>
            </a:r>
            <a:r>
              <a:rPr lang="fr-MA" b="1" spc="-5" dirty="0" err="1">
                <a:solidFill>
                  <a:srgbClr val="0070C0"/>
                </a:solidFill>
                <a:latin typeface="Carlito"/>
              </a:rPr>
              <a:t>Payment</a:t>
            </a:r>
            <a:r>
              <a:rPr lang="fr-MA" b="1" spc="-5" dirty="0">
                <a:solidFill>
                  <a:srgbClr val="0070C0"/>
                </a:solidFill>
                <a:latin typeface="Carlito"/>
              </a:rPr>
              <a:t> International ) - CASABLANCA</a:t>
            </a:r>
            <a:endParaRPr lang="fr-FR" b="1" spc="-5" dirty="0">
              <a:solidFill>
                <a:srgbClr val="0070C0"/>
              </a:solidFill>
              <a:latin typeface="Carlito"/>
            </a:endParaRPr>
          </a:p>
          <a:p>
            <a:pPr>
              <a:spcAft>
                <a:spcPts val="300"/>
              </a:spcAft>
            </a:pPr>
            <a:r>
              <a:rPr lang="fr-FR" sz="1600" b="1" spc="-20" dirty="0">
                <a:solidFill>
                  <a:prstClr val="black"/>
                </a:solidFill>
                <a:latin typeface="Carlito"/>
              </a:rPr>
              <a:t>20 Février 2025 – 30 Mai 2025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</a:t>
            </a:r>
            <a:r>
              <a:rPr lang="fr-FR" sz="1400" spc="5" dirty="0">
                <a:solidFill>
                  <a:prstClr val="black"/>
                </a:solidFill>
                <a:latin typeface="Carlito"/>
              </a:rPr>
              <a:t>Participation à la conception technique et développement &amp; maintenance d'applications web et d'outils métiers en Java/JEE.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</a:t>
            </a:r>
            <a:r>
              <a:rPr lang="fr-FR" sz="1400" spc="5" dirty="0">
                <a:solidFill>
                  <a:prstClr val="black"/>
                </a:solidFill>
                <a:latin typeface="Carlito"/>
              </a:rPr>
              <a:t>Travail en équipe, analystes et testeurs dans un cadre Agile Scrum et rédaction de documentation technique et fonctionnelle.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</a:t>
            </a:r>
            <a:r>
              <a:rPr lang="fr-FR" sz="1400" spc="5" dirty="0">
                <a:solidFill>
                  <a:prstClr val="black"/>
                </a:solidFill>
                <a:latin typeface="Carlito"/>
              </a:rPr>
              <a:t>Utilisation des outils pour l’intégration continue &amp; résolution des bugs et optimisation des performances des applications.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</a:t>
            </a:r>
            <a:r>
              <a:rPr lang="fr-FR" sz="1400" spc="5" dirty="0">
                <a:solidFill>
                  <a:prstClr val="black"/>
                </a:solidFill>
                <a:latin typeface="Carlito"/>
              </a:rPr>
              <a:t>Assistance technique aux clients et correction des anomalies &amp; mise à jour des applications pour répondre aux nouveaux besoins métiers.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600" b="1" spc="5" dirty="0">
                <a:solidFill>
                  <a:prstClr val="black"/>
                </a:solidFill>
                <a:latin typeface="Carlito"/>
              </a:rPr>
              <a:t>Les technologies utilisées : </a:t>
            </a:r>
            <a:r>
              <a:rPr lang="fr-FR" sz="1600" spc="5" dirty="0">
                <a:solidFill>
                  <a:prstClr val="black"/>
                </a:solidFill>
                <a:latin typeface="Carlito"/>
              </a:rPr>
              <a:t>Java JEE/Api/Batch/</a:t>
            </a:r>
            <a:r>
              <a:rPr lang="fr-FR" sz="1600" spc="5" dirty="0" err="1">
                <a:solidFill>
                  <a:prstClr val="black"/>
                </a:solidFill>
                <a:latin typeface="Carlito"/>
              </a:rPr>
              <a:t>Svn</a:t>
            </a:r>
            <a:r>
              <a:rPr lang="fr-FR" sz="1600" spc="5" dirty="0">
                <a:solidFill>
                  <a:prstClr val="black"/>
                </a:solidFill>
                <a:latin typeface="Carlito"/>
              </a:rPr>
              <a:t>/</a:t>
            </a:r>
            <a:r>
              <a:rPr lang="fr-MA" sz="1600" spc="5" dirty="0">
                <a:solidFill>
                  <a:prstClr val="black"/>
                </a:solidFill>
                <a:latin typeface="Carlito"/>
              </a:rPr>
              <a:t>Oracle </a:t>
            </a:r>
            <a:r>
              <a:rPr lang="fr-MA" sz="1600" spc="5" dirty="0" err="1">
                <a:solidFill>
                  <a:prstClr val="black"/>
                </a:solidFill>
                <a:latin typeface="Carlito"/>
              </a:rPr>
              <a:t>Database</a:t>
            </a:r>
            <a:r>
              <a:rPr lang="fr-FR" sz="1600" spc="5" dirty="0">
                <a:solidFill>
                  <a:prstClr val="black"/>
                </a:solidFill>
                <a:latin typeface="Carlito"/>
              </a:rPr>
              <a:t>/MySQL/PostgreSQL/</a:t>
            </a:r>
            <a:r>
              <a:rPr lang="fr-FR" sz="1600" spc="5" dirty="0" err="1">
                <a:solidFill>
                  <a:prstClr val="black"/>
                </a:solidFill>
                <a:latin typeface="Carlito"/>
              </a:rPr>
              <a:t>SQLServer</a:t>
            </a:r>
            <a:r>
              <a:rPr lang="fr-FR" sz="1600" spc="5" dirty="0">
                <a:solidFill>
                  <a:prstClr val="black"/>
                </a:solidFill>
                <a:latin typeface="Carlit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7490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object 22">
            <a:extLst>
              <a:ext uri="{FF2B5EF4-FFF2-40B4-BE49-F238E27FC236}">
                <a16:creationId xmlns:a16="http://schemas.microsoft.com/office/drawing/2014/main" id="{D8636FDD-11CB-AA3C-DFF3-B69AADDF7156}"/>
              </a:ext>
            </a:extLst>
          </p:cNvPr>
          <p:cNvSpPr txBox="1"/>
          <p:nvPr/>
        </p:nvSpPr>
        <p:spPr>
          <a:xfrm>
            <a:off x="285852" y="5846173"/>
            <a:ext cx="3753729" cy="432811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>
              <a:spcBef>
                <a:spcPts val="90"/>
              </a:spcBef>
              <a:defRPr/>
            </a:pPr>
            <a:r>
              <a:rPr sz="2400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COMP</a:t>
            </a:r>
            <a:r>
              <a:rPr lang="fr-FR" sz="2400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É</a:t>
            </a:r>
            <a:r>
              <a:rPr sz="2400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TENCES</a:t>
            </a:r>
            <a:r>
              <a:rPr lang="fr-MA" sz="2400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 </a:t>
            </a:r>
            <a:r>
              <a:rPr lang="fr-FR" sz="2400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TECHNIQUES</a:t>
            </a:r>
            <a:endParaRPr sz="2400" b="1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ECA183B2-DF78-8526-F6D6-81996B4CD85B}"/>
              </a:ext>
            </a:extLst>
          </p:cNvPr>
          <p:cNvCxnSpPr>
            <a:cxnSpLocks/>
          </p:cNvCxnSpPr>
          <p:nvPr/>
        </p:nvCxnSpPr>
        <p:spPr>
          <a:xfrm>
            <a:off x="3956246" y="6112108"/>
            <a:ext cx="68435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ZoneTexte 72">
            <a:extLst>
              <a:ext uri="{FF2B5EF4-FFF2-40B4-BE49-F238E27FC236}">
                <a16:creationId xmlns:a16="http://schemas.microsoft.com/office/drawing/2014/main" id="{B82C99F8-3D7B-4D0F-0424-1E6D55F80D47}"/>
              </a:ext>
            </a:extLst>
          </p:cNvPr>
          <p:cNvSpPr txBox="1"/>
          <p:nvPr/>
        </p:nvSpPr>
        <p:spPr>
          <a:xfrm>
            <a:off x="272152" y="6364532"/>
            <a:ext cx="698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defRPr/>
            </a:pPr>
            <a:r>
              <a:rPr lang="fr-FR" sz="1800" b="1" spc="5" dirty="0">
                <a:solidFill>
                  <a:prstClr val="black"/>
                </a:solidFill>
                <a:latin typeface="Carlito"/>
              </a:rPr>
              <a:t>Langages de programmation : 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C/Python/PHP/JavaScript/JAVA/J2EE</a:t>
            </a:r>
            <a:r>
              <a:rPr lang="fr-FR" spc="5" dirty="0">
                <a:solidFill>
                  <a:prstClr val="black"/>
                </a:solidFill>
                <a:latin typeface="Carlito"/>
              </a:rPr>
              <a:t>/.</a:t>
            </a:r>
            <a:r>
              <a:rPr lang="fr-MA" spc="5" dirty="0">
                <a:solidFill>
                  <a:prstClr val="black"/>
                </a:solidFill>
                <a:latin typeface="Carlito"/>
              </a:rPr>
              <a:t>NET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.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5A28C83D-E4FC-0A07-15E7-EAFAEDF2E20F}"/>
              </a:ext>
            </a:extLst>
          </p:cNvPr>
          <p:cNvSpPr txBox="1"/>
          <p:nvPr/>
        </p:nvSpPr>
        <p:spPr>
          <a:xfrm>
            <a:off x="285852" y="7747504"/>
            <a:ext cx="68332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defRPr/>
            </a:pPr>
            <a:r>
              <a:rPr lang="fr-FR" sz="1800" b="1" spc="5" dirty="0">
                <a:solidFill>
                  <a:prstClr val="black"/>
                </a:solidFill>
                <a:latin typeface="Carlito"/>
              </a:rPr>
              <a:t>Base de données : 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MySQL/PostgreSQL/MongoDB/Kafka/Open </a:t>
            </a:r>
            <a:r>
              <a:rPr lang="fr-FR" sz="1800" spc="5" dirty="0" err="1">
                <a:solidFill>
                  <a:prstClr val="black"/>
                </a:solidFill>
                <a:latin typeface="Carlito"/>
              </a:rPr>
              <a:t>Search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.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4D08EE2B-8154-3BF0-2701-E5F91A2B36B6}"/>
              </a:ext>
            </a:extLst>
          </p:cNvPr>
          <p:cNvSpPr txBox="1"/>
          <p:nvPr/>
        </p:nvSpPr>
        <p:spPr>
          <a:xfrm>
            <a:off x="279682" y="6821457"/>
            <a:ext cx="3849933" cy="3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defRPr/>
            </a:pPr>
            <a:r>
              <a:rPr lang="fr-FR" sz="1800" b="1" spc="5" dirty="0">
                <a:solidFill>
                  <a:prstClr val="black"/>
                </a:solidFill>
                <a:latin typeface="Carlito"/>
              </a:rPr>
              <a:t>Analyse et conception : 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MERISE/UML.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049996CD-0D05-76C7-6B47-70CAB809B6C4}"/>
              </a:ext>
            </a:extLst>
          </p:cNvPr>
          <p:cNvSpPr txBox="1"/>
          <p:nvPr/>
        </p:nvSpPr>
        <p:spPr>
          <a:xfrm>
            <a:off x="285852" y="7291602"/>
            <a:ext cx="2403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defRPr/>
            </a:pPr>
            <a:r>
              <a:rPr lang="fr-FR" sz="1800" b="1" spc="5" dirty="0">
                <a:solidFill>
                  <a:prstClr val="black"/>
                </a:solidFill>
                <a:latin typeface="Carlito"/>
              </a:rPr>
              <a:t>Méthode agile : 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Scrum.</a:t>
            </a: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AB066BFA-6221-2B30-96B8-250A06EDF176}"/>
              </a:ext>
            </a:extLst>
          </p:cNvPr>
          <p:cNvSpPr txBox="1"/>
          <p:nvPr/>
        </p:nvSpPr>
        <p:spPr>
          <a:xfrm>
            <a:off x="285852" y="8208056"/>
            <a:ext cx="10474203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defRPr/>
            </a:pPr>
            <a:r>
              <a:rPr lang="fr-FR" sz="1800" b="1" spc="5" dirty="0">
                <a:solidFill>
                  <a:prstClr val="black"/>
                </a:solidFill>
                <a:latin typeface="Carlito"/>
              </a:rPr>
              <a:t>Technologies Web : 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HTML/CSS/SASS/Bootstrap/</a:t>
            </a:r>
            <a:r>
              <a:rPr lang="fr-FR" sz="1800" spc="5" dirty="0" err="1">
                <a:solidFill>
                  <a:prstClr val="black"/>
                </a:solidFill>
                <a:latin typeface="Carlito"/>
              </a:rPr>
              <a:t>Tailwind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/</a:t>
            </a:r>
            <a:r>
              <a:rPr lang="fr-FR" sz="1800" spc="5" dirty="0" err="1">
                <a:solidFill>
                  <a:prstClr val="black"/>
                </a:solidFill>
                <a:latin typeface="Carlito"/>
              </a:rPr>
              <a:t>Laravel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/</a:t>
            </a:r>
            <a:r>
              <a:rPr lang="fr-FR" sz="1800" spc="5" dirty="0" err="1">
                <a:solidFill>
                  <a:prstClr val="black"/>
                </a:solidFill>
                <a:latin typeface="Carlito"/>
              </a:rPr>
              <a:t>RestAPI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/</a:t>
            </a:r>
            <a:r>
              <a:rPr lang="fr-FR" sz="1800" spc="5" dirty="0" err="1">
                <a:solidFill>
                  <a:prstClr val="black"/>
                </a:solidFill>
                <a:latin typeface="Carlito"/>
              </a:rPr>
              <a:t>Vuejs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/</a:t>
            </a:r>
            <a:r>
              <a:rPr lang="fr-FR" sz="1800" spc="5" dirty="0" err="1">
                <a:solidFill>
                  <a:prstClr val="black"/>
                </a:solidFill>
                <a:latin typeface="Carlito"/>
              </a:rPr>
              <a:t>Nuxtjs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/</a:t>
            </a:r>
            <a:r>
              <a:rPr lang="fr-FR" sz="1800" spc="5" dirty="0" err="1">
                <a:solidFill>
                  <a:prstClr val="black"/>
                </a:solidFill>
                <a:latin typeface="Carlito"/>
              </a:rPr>
              <a:t>Angular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/</a:t>
            </a:r>
            <a:r>
              <a:rPr lang="fr-FR" sz="1800" spc="5">
                <a:solidFill>
                  <a:prstClr val="black"/>
                </a:solidFill>
                <a:latin typeface="Carlito"/>
              </a:rPr>
              <a:t>Reactjs/</a:t>
            </a:r>
            <a:r>
              <a:rPr lang="fr-FR" sz="1800" spc="5" dirty="0" err="1">
                <a:solidFill>
                  <a:prstClr val="black"/>
                </a:solidFill>
                <a:latin typeface="Carlito"/>
              </a:rPr>
              <a:t>Jsp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/</a:t>
            </a:r>
          </a:p>
          <a:p>
            <a:pPr algn="just">
              <a:spcAft>
                <a:spcPts val="600"/>
              </a:spcAft>
              <a:defRPr/>
            </a:pPr>
            <a:r>
              <a:rPr lang="fr-FR" sz="1800" spc="5" dirty="0" err="1">
                <a:solidFill>
                  <a:prstClr val="black"/>
                </a:solidFill>
                <a:latin typeface="Carlito"/>
              </a:rPr>
              <a:t>Jpa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/Hibernate/Spring/Spring Boot/Spring Security.</a:t>
            </a:r>
            <a:endParaRPr lang="fr-FR" dirty="0"/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396F858A-858F-FA0A-0929-CE888B0FC451}"/>
              </a:ext>
            </a:extLst>
          </p:cNvPr>
          <p:cNvSpPr txBox="1"/>
          <p:nvPr/>
        </p:nvSpPr>
        <p:spPr>
          <a:xfrm>
            <a:off x="285852" y="10748288"/>
            <a:ext cx="1910444" cy="375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defRPr/>
            </a:pPr>
            <a:r>
              <a:rPr lang="fr-FR" sz="1800" b="1" spc="5" dirty="0">
                <a:solidFill>
                  <a:prstClr val="black"/>
                </a:solidFill>
                <a:latin typeface="Carlito"/>
              </a:rPr>
              <a:t>CMS : 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Wordpress.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74E9F740-87CB-EDB1-FB84-7A723FDE3579}"/>
              </a:ext>
            </a:extLst>
          </p:cNvPr>
          <p:cNvSpPr txBox="1"/>
          <p:nvPr/>
        </p:nvSpPr>
        <p:spPr>
          <a:xfrm>
            <a:off x="285852" y="9022551"/>
            <a:ext cx="7632611" cy="375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defRPr/>
            </a:pPr>
            <a:r>
              <a:rPr lang="fr-FR" sz="1800" b="1" spc="5" dirty="0">
                <a:solidFill>
                  <a:prstClr val="black"/>
                </a:solidFill>
                <a:latin typeface="Carlito"/>
              </a:rPr>
              <a:t>Logiciel : 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VS code/Figma/Adobe XD/PHP Storm/</a:t>
            </a:r>
            <a:r>
              <a:rPr lang="fr-FR" sz="1800" spc="5" dirty="0" err="1">
                <a:solidFill>
                  <a:prstClr val="black"/>
                </a:solidFill>
                <a:latin typeface="Carlito"/>
              </a:rPr>
              <a:t>Intellij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 </a:t>
            </a:r>
            <a:r>
              <a:rPr lang="fr-FR" sz="1800" spc="5" dirty="0" err="1">
                <a:solidFill>
                  <a:prstClr val="black"/>
                </a:solidFill>
                <a:latin typeface="Carlito"/>
              </a:rPr>
              <a:t>idea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/Cisco Packet tracer. 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4B8D56C2-0BCB-5617-1D47-D5ED387EA847}"/>
              </a:ext>
            </a:extLst>
          </p:cNvPr>
          <p:cNvSpPr txBox="1"/>
          <p:nvPr/>
        </p:nvSpPr>
        <p:spPr>
          <a:xfrm>
            <a:off x="285852" y="9353968"/>
            <a:ext cx="3049036" cy="375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defRPr/>
            </a:pPr>
            <a:r>
              <a:rPr lang="fr-FR" sz="1800" b="1" spc="5" dirty="0">
                <a:solidFill>
                  <a:prstClr val="black"/>
                </a:solidFill>
                <a:latin typeface="Carlito"/>
              </a:rPr>
              <a:t>Version contrôle : 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GIT/GitHub. 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167954A4-05C0-4ABD-7FA7-05BF44BC54ED}"/>
              </a:ext>
            </a:extLst>
          </p:cNvPr>
          <p:cNvSpPr txBox="1"/>
          <p:nvPr/>
        </p:nvSpPr>
        <p:spPr>
          <a:xfrm>
            <a:off x="285852" y="9820852"/>
            <a:ext cx="3694766" cy="375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defRPr/>
            </a:pPr>
            <a:r>
              <a:rPr lang="fr-FR" sz="1800" b="1" spc="5" dirty="0">
                <a:solidFill>
                  <a:prstClr val="black"/>
                </a:solidFill>
                <a:latin typeface="Carlito"/>
              </a:rPr>
              <a:t>Gestion de projet : 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Trello/Gantt/Pert. 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BCA82F01-4123-9E5F-5EED-F5F9E21E30BB}"/>
              </a:ext>
            </a:extLst>
          </p:cNvPr>
          <p:cNvSpPr txBox="1"/>
          <p:nvPr/>
        </p:nvSpPr>
        <p:spPr>
          <a:xfrm>
            <a:off x="285852" y="10287736"/>
            <a:ext cx="4065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defRPr/>
            </a:pPr>
            <a:r>
              <a:rPr lang="fr-FR" sz="1800" b="1" spc="5" dirty="0">
                <a:solidFill>
                  <a:prstClr val="black"/>
                </a:solidFill>
                <a:latin typeface="Carlito"/>
              </a:rPr>
              <a:t>Système d'exploitation : </a:t>
            </a:r>
            <a:r>
              <a:rPr lang="fr-FR" sz="1800" spc="5" dirty="0">
                <a:solidFill>
                  <a:prstClr val="black"/>
                </a:solidFill>
                <a:latin typeface="Carlito"/>
              </a:rPr>
              <a:t>Linux/Windows. </a:t>
            </a:r>
          </a:p>
        </p:txBody>
      </p:sp>
      <p:sp>
        <p:nvSpPr>
          <p:cNvPr id="7" name="TextBox 18">
            <a:extLst>
              <a:ext uri="{FF2B5EF4-FFF2-40B4-BE49-F238E27FC236}">
                <a16:creationId xmlns:a16="http://schemas.microsoft.com/office/drawing/2014/main" id="{49EBA928-1E27-1846-470C-87794DE83DED}"/>
              </a:ext>
            </a:extLst>
          </p:cNvPr>
          <p:cNvSpPr txBox="1"/>
          <p:nvPr/>
        </p:nvSpPr>
        <p:spPr>
          <a:xfrm>
            <a:off x="285852" y="4200624"/>
            <a:ext cx="10282272" cy="1285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MA" b="1" spc="-5" dirty="0">
                <a:solidFill>
                  <a:srgbClr val="0070C0"/>
                </a:solidFill>
                <a:latin typeface="Carlito"/>
              </a:rPr>
              <a:t>Site de Recrutement 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defRPr/>
            </a:pPr>
            <a:r>
              <a:rPr lang="fr-FR" sz="1600" spc="5" noProof="1">
                <a:solidFill>
                  <a:prstClr val="black"/>
                </a:solidFill>
                <a:latin typeface="Carlito"/>
              </a:rPr>
              <a:t>- </a:t>
            </a:r>
            <a:r>
              <a:rPr lang="fr-FR" sz="1600" spc="5" dirty="0">
                <a:solidFill>
                  <a:prstClr val="black"/>
                </a:solidFill>
                <a:latin typeface="Carlito"/>
              </a:rPr>
              <a:t>Développement de l'application web </a:t>
            </a:r>
            <a:r>
              <a:rPr lang="fr-FR" sz="1600" spc="5" dirty="0" err="1">
                <a:solidFill>
                  <a:prstClr val="black"/>
                </a:solidFill>
                <a:latin typeface="Carlito"/>
              </a:rPr>
              <a:t>MyRH</a:t>
            </a:r>
            <a:r>
              <a:rPr lang="fr-FR" sz="1600" spc="5" dirty="0">
                <a:solidFill>
                  <a:prstClr val="black"/>
                </a:solidFill>
                <a:latin typeface="Carlito"/>
              </a:rPr>
              <a:t> pour simplifier la recherche d'emploi au Maroc.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defRPr/>
            </a:pPr>
            <a:r>
              <a:rPr lang="fr-FR" sz="1600" b="1" spc="5" dirty="0">
                <a:solidFill>
                  <a:prstClr val="black"/>
                </a:solidFill>
                <a:latin typeface="Carlito"/>
              </a:rPr>
              <a:t>Les technologies utilisées</a:t>
            </a:r>
            <a:r>
              <a:rPr lang="fr-FR" sz="1600" b="1" spc="-20" dirty="0">
                <a:solidFill>
                  <a:prstClr val="black"/>
                </a:solidFill>
                <a:latin typeface="Carlito"/>
              </a:rPr>
              <a:t> : </a:t>
            </a:r>
            <a:r>
              <a:rPr lang="fr-FR" sz="1600" spc="5" noProof="1">
                <a:solidFill>
                  <a:prstClr val="black"/>
                </a:solidFill>
                <a:latin typeface="Carlito"/>
              </a:rPr>
              <a:t>Angular/spring boot/spring security/hibernate/mysql</a:t>
            </a:r>
            <a:r>
              <a:rPr lang="fr-FR" sz="1600" spc="5" dirty="0">
                <a:solidFill>
                  <a:prstClr val="black"/>
                </a:solidFill>
                <a:latin typeface="Carlito"/>
              </a:rPr>
              <a:t>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A4D6442-1488-D3D1-513D-C4F150A4C89F}"/>
              </a:ext>
            </a:extLst>
          </p:cNvPr>
          <p:cNvSpPr txBox="1"/>
          <p:nvPr/>
        </p:nvSpPr>
        <p:spPr>
          <a:xfrm>
            <a:off x="615854" y="5503872"/>
            <a:ext cx="48816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u="sng" spc="5" dirty="0">
                <a:solidFill>
                  <a:prstClr val="black"/>
                </a:solidFill>
                <a:latin typeface="Carlito"/>
              </a:rPr>
              <a:t>https://github.com/redaDaalabi2/MyRH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FE150BE3-345F-1CFC-09FD-FFE90F2BE5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21" y="5529599"/>
            <a:ext cx="252000" cy="252000"/>
          </a:xfrm>
          <a:prstGeom prst="rect">
            <a:avLst/>
          </a:prstGeom>
        </p:spPr>
      </p:pic>
      <p:sp>
        <p:nvSpPr>
          <p:cNvPr id="2" name="object 22">
            <a:extLst>
              <a:ext uri="{FF2B5EF4-FFF2-40B4-BE49-F238E27FC236}">
                <a16:creationId xmlns:a16="http://schemas.microsoft.com/office/drawing/2014/main" id="{2882AA07-614D-21EA-AB30-1CB3C2A9E594}"/>
              </a:ext>
            </a:extLst>
          </p:cNvPr>
          <p:cNvSpPr txBox="1"/>
          <p:nvPr/>
        </p:nvSpPr>
        <p:spPr>
          <a:xfrm>
            <a:off x="272152" y="11249245"/>
            <a:ext cx="4079421" cy="432811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algn="l"/>
            <a:r>
              <a:rPr lang="fr-FR" sz="2400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CENTRES D’INTÉRÊTS ET LOISIRS</a:t>
            </a:r>
            <a:endParaRPr sz="2400" b="1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863F7F16-A655-8BAE-6969-4098D684A127}"/>
              </a:ext>
            </a:extLst>
          </p:cNvPr>
          <p:cNvCxnSpPr>
            <a:cxnSpLocks/>
          </p:cNvCxnSpPr>
          <p:nvPr/>
        </p:nvCxnSpPr>
        <p:spPr>
          <a:xfrm>
            <a:off x="4389120" y="11515180"/>
            <a:ext cx="63969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722F9EDE-A6ED-1790-E366-BE2FE015DCC4}"/>
              </a:ext>
            </a:extLst>
          </p:cNvPr>
          <p:cNvSpPr txBox="1"/>
          <p:nvPr/>
        </p:nvSpPr>
        <p:spPr>
          <a:xfrm>
            <a:off x="272151" y="11879074"/>
            <a:ext cx="4600791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fr-FR" spc="5" dirty="0">
                <a:solidFill>
                  <a:prstClr val="black"/>
                </a:solidFill>
                <a:latin typeface="Carlito"/>
              </a:rPr>
              <a:t>E-learning (</a:t>
            </a:r>
            <a:r>
              <a:rPr lang="fr-FR" spc="5" dirty="0" err="1">
                <a:solidFill>
                  <a:prstClr val="black"/>
                </a:solidFill>
                <a:latin typeface="Carlito"/>
              </a:rPr>
              <a:t>OpenClassrooms</a:t>
            </a:r>
            <a:r>
              <a:rPr lang="fr-FR" spc="5" dirty="0">
                <a:solidFill>
                  <a:prstClr val="black"/>
                </a:solidFill>
                <a:latin typeface="Carlito"/>
              </a:rPr>
              <a:t>, </a:t>
            </a:r>
            <a:r>
              <a:rPr lang="fr-FR" spc="5" dirty="0" err="1">
                <a:solidFill>
                  <a:prstClr val="black"/>
                </a:solidFill>
                <a:latin typeface="Carlito"/>
              </a:rPr>
              <a:t>Udemy</a:t>
            </a:r>
            <a:r>
              <a:rPr lang="fr-FR" spc="5" dirty="0">
                <a:solidFill>
                  <a:prstClr val="black"/>
                </a:solidFill>
                <a:latin typeface="Carlito"/>
              </a:rPr>
              <a:t>…).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fr-FR" spc="5" dirty="0">
                <a:solidFill>
                  <a:prstClr val="black"/>
                </a:solidFill>
                <a:latin typeface="Carlito"/>
              </a:rPr>
              <a:t>Sport : Football.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fr-FR" spc="5" dirty="0">
                <a:solidFill>
                  <a:prstClr val="black"/>
                </a:solidFill>
                <a:latin typeface="Carlito"/>
              </a:rPr>
              <a:t>Musique.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fr-FR" spc="5" dirty="0">
                <a:solidFill>
                  <a:prstClr val="black"/>
                </a:solidFill>
                <a:latin typeface="Carlito"/>
              </a:rPr>
              <a:t>Billard.</a:t>
            </a:r>
          </a:p>
        </p:txBody>
      </p:sp>
      <p:sp>
        <p:nvSpPr>
          <p:cNvPr id="17" name="object 22">
            <a:extLst>
              <a:ext uri="{FF2B5EF4-FFF2-40B4-BE49-F238E27FC236}">
                <a16:creationId xmlns:a16="http://schemas.microsoft.com/office/drawing/2014/main" id="{A0420A31-887C-AA9C-07EC-0E50A18C600A}"/>
              </a:ext>
            </a:extLst>
          </p:cNvPr>
          <p:cNvSpPr txBox="1"/>
          <p:nvPr/>
        </p:nvSpPr>
        <p:spPr>
          <a:xfrm>
            <a:off x="272151" y="13402618"/>
            <a:ext cx="4079421" cy="432811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algn="l"/>
            <a:r>
              <a:rPr lang="fr-FR" sz="2400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COMPÉTENCES LINGUISTIQUES</a:t>
            </a:r>
            <a:endParaRPr sz="2400" b="1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E16FB1E-B3F5-8E45-6F3B-44DF56021408}"/>
              </a:ext>
            </a:extLst>
          </p:cNvPr>
          <p:cNvCxnSpPr>
            <a:cxnSpLocks/>
          </p:cNvCxnSpPr>
          <p:nvPr/>
        </p:nvCxnSpPr>
        <p:spPr>
          <a:xfrm>
            <a:off x="4261104" y="13668553"/>
            <a:ext cx="65249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8CA1B575-9B93-876A-2D3C-65FB155F01FD}"/>
              </a:ext>
            </a:extLst>
          </p:cNvPr>
          <p:cNvSpPr txBox="1"/>
          <p:nvPr/>
        </p:nvSpPr>
        <p:spPr>
          <a:xfrm>
            <a:off x="272150" y="14026872"/>
            <a:ext cx="46007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fr-FR" spc="5" dirty="0">
                <a:solidFill>
                  <a:prstClr val="black"/>
                </a:solidFill>
                <a:latin typeface="Carlito"/>
              </a:rPr>
              <a:t>Arabe : langue maternelle.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fr-FR" spc="5" dirty="0">
                <a:solidFill>
                  <a:prstClr val="black"/>
                </a:solidFill>
                <a:latin typeface="Carlito"/>
              </a:rPr>
              <a:t>Français : niveau avancé.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fr-FR" spc="5" dirty="0">
                <a:solidFill>
                  <a:prstClr val="black"/>
                </a:solidFill>
                <a:latin typeface="Carlito"/>
              </a:rPr>
              <a:t>Anglais : niveau intermédiaire.</a:t>
            </a:r>
          </a:p>
        </p:txBody>
      </p:sp>
      <p:sp>
        <p:nvSpPr>
          <p:cNvPr id="57" name="object 11">
            <a:extLst>
              <a:ext uri="{FF2B5EF4-FFF2-40B4-BE49-F238E27FC236}">
                <a16:creationId xmlns:a16="http://schemas.microsoft.com/office/drawing/2014/main" id="{2A57A885-4CF2-C793-A254-334321E12F5A}"/>
              </a:ext>
            </a:extLst>
          </p:cNvPr>
          <p:cNvSpPr txBox="1"/>
          <p:nvPr/>
        </p:nvSpPr>
        <p:spPr>
          <a:xfrm>
            <a:off x="314882" y="2252398"/>
            <a:ext cx="3775580" cy="3808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sz="2400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PROJETS RÉALISÉS</a:t>
            </a:r>
            <a:endParaRPr sz="2400" b="1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58" name="TextBox 18">
            <a:extLst>
              <a:ext uri="{FF2B5EF4-FFF2-40B4-BE49-F238E27FC236}">
                <a16:creationId xmlns:a16="http://schemas.microsoft.com/office/drawing/2014/main" id="{26F22864-3DC8-6878-96FE-8F7A0524F884}"/>
              </a:ext>
            </a:extLst>
          </p:cNvPr>
          <p:cNvSpPr txBox="1"/>
          <p:nvPr/>
        </p:nvSpPr>
        <p:spPr>
          <a:xfrm>
            <a:off x="219390" y="2598765"/>
            <a:ext cx="10294521" cy="1285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MA" b="1" spc="-5" dirty="0">
                <a:solidFill>
                  <a:srgbClr val="0070C0"/>
                </a:solidFill>
                <a:latin typeface="Carlito"/>
              </a:rPr>
              <a:t>Promotion Marjane 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Gestion des promotions de produits dans tous les centres Marjane au Maroc.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defRPr/>
            </a:pPr>
            <a:r>
              <a:rPr lang="fr-FR" sz="1600" b="1" spc="5" dirty="0">
                <a:solidFill>
                  <a:prstClr val="black"/>
                </a:solidFill>
                <a:latin typeface="Carlito"/>
              </a:rPr>
              <a:t>Les technologies utilisées</a:t>
            </a:r>
            <a:r>
              <a:rPr lang="fr-FR" sz="1600" b="1" spc="-20" dirty="0">
                <a:solidFill>
                  <a:prstClr val="black"/>
                </a:solidFill>
                <a:latin typeface="Carlito"/>
              </a:rPr>
              <a:t> : </a:t>
            </a:r>
            <a:r>
              <a:rPr lang="fr-FR" sz="1600" spc="5" dirty="0">
                <a:solidFill>
                  <a:prstClr val="black"/>
                </a:solidFill>
                <a:latin typeface="Carlito"/>
              </a:rPr>
              <a:t>java/</a:t>
            </a:r>
            <a:r>
              <a:rPr lang="fr-FR" sz="1600" spc="5" noProof="1">
                <a:solidFill>
                  <a:prstClr val="black"/>
                </a:solidFill>
                <a:latin typeface="Carlito"/>
              </a:rPr>
              <a:t>jsp</a:t>
            </a:r>
            <a:r>
              <a:rPr lang="fr-FR" sz="1600" spc="5" dirty="0">
                <a:solidFill>
                  <a:prstClr val="black"/>
                </a:solidFill>
                <a:latin typeface="Carlito"/>
              </a:rPr>
              <a:t>.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CABD7D9B-C767-69AC-16BD-FB9B06AE6B6B}"/>
              </a:ext>
            </a:extLst>
          </p:cNvPr>
          <p:cNvSpPr txBox="1"/>
          <p:nvPr/>
        </p:nvSpPr>
        <p:spPr>
          <a:xfrm>
            <a:off x="581688" y="3967961"/>
            <a:ext cx="48816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u="sng" spc="5" dirty="0">
                <a:solidFill>
                  <a:prstClr val="black"/>
                </a:solidFill>
                <a:latin typeface="Carlito"/>
              </a:rPr>
              <a:t>https://github.com/redaDaalabi2/Promotion_Marjane_Backend</a:t>
            </a:r>
          </a:p>
        </p:txBody>
      </p:sp>
      <p:pic>
        <p:nvPicPr>
          <p:cNvPr id="60" name="Image 59">
            <a:extLst>
              <a:ext uri="{FF2B5EF4-FFF2-40B4-BE49-F238E27FC236}">
                <a16:creationId xmlns:a16="http://schemas.microsoft.com/office/drawing/2014/main" id="{E8FB8FC2-5CFF-6201-56B9-8ACCCE22B0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55" y="3993688"/>
            <a:ext cx="252000" cy="252000"/>
          </a:xfrm>
          <a:prstGeom prst="rect">
            <a:avLst/>
          </a:prstGeom>
        </p:spPr>
      </p:pic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93A45DED-DBEB-A3EC-19C9-4521F0810773}"/>
              </a:ext>
            </a:extLst>
          </p:cNvPr>
          <p:cNvCxnSpPr>
            <a:cxnSpLocks/>
          </p:cNvCxnSpPr>
          <p:nvPr/>
        </p:nvCxnSpPr>
        <p:spPr>
          <a:xfrm>
            <a:off x="2652184" y="2477002"/>
            <a:ext cx="81526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18">
            <a:extLst>
              <a:ext uri="{FF2B5EF4-FFF2-40B4-BE49-F238E27FC236}">
                <a16:creationId xmlns:a16="http://schemas.microsoft.com/office/drawing/2014/main" id="{0B4815E7-2D6E-13A3-2E4F-E46952700F54}"/>
              </a:ext>
            </a:extLst>
          </p:cNvPr>
          <p:cNvSpPr txBox="1"/>
          <p:nvPr/>
        </p:nvSpPr>
        <p:spPr>
          <a:xfrm>
            <a:off x="219569" y="91866"/>
            <a:ext cx="8992164" cy="2131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0" lang="fr-FR" sz="1800" b="1" i="0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rlito"/>
                <a:ea typeface="+mn-ea"/>
                <a:cs typeface="+mn-cs"/>
              </a:rPr>
              <a:t>Stage de Fin d’Études (DUT) </a:t>
            </a:r>
            <a:r>
              <a:rPr kumimoji="0" lang="fr-FR" sz="1800" b="1" i="0" u="none" strike="noStrike" kern="1200" cap="none" spc="-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| </a:t>
            </a:r>
            <a:r>
              <a:rPr lang="fr-MA" b="1" spc="-20" dirty="0">
                <a:solidFill>
                  <a:srgbClr val="0070C0"/>
                </a:solidFill>
                <a:latin typeface="Carlito"/>
              </a:rPr>
              <a:t>La Cour d’Appel </a:t>
            </a:r>
            <a:r>
              <a:rPr lang="fr-FR" b="1" spc="-20" dirty="0">
                <a:solidFill>
                  <a:srgbClr val="0070C0"/>
                </a:solidFill>
                <a:latin typeface="Carlito"/>
              </a:rPr>
              <a:t>-</a:t>
            </a:r>
            <a:r>
              <a:rPr kumimoji="0" lang="fr-FR" sz="1800" b="1" i="0" u="none" strike="noStrike" kern="1200" cap="none" spc="-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Safi</a:t>
            </a:r>
            <a:endParaRPr kumimoji="0" lang="fr-FR" sz="18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just" defTabSz="4572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Avril 2021 – Mai 2021</a:t>
            </a:r>
            <a:endParaRPr lang="fr-FR" sz="1600" b="1" spc="-20" dirty="0">
              <a:solidFill>
                <a:prstClr val="black"/>
              </a:solidFill>
              <a:latin typeface="Carlito"/>
            </a:endParaRPr>
          </a:p>
          <a:p>
            <a:pPr algn="just">
              <a:lnSpc>
                <a:spcPct val="150000"/>
              </a:lnSpc>
              <a:tabLst>
                <a:tab pos="184150" algn="l"/>
              </a:tabLs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Étude du réseau actuel de la Cour d’Appel de Safi.</a:t>
            </a:r>
          </a:p>
          <a:p>
            <a:pPr algn="just">
              <a:lnSpc>
                <a:spcPct val="150000"/>
              </a:lnSpc>
              <a:tabLst>
                <a:tab pos="184150" algn="l"/>
              </a:tabLs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Inventaire du parc informatique par GLPI.</a:t>
            </a:r>
          </a:p>
          <a:p>
            <a:pPr algn="just">
              <a:lnSpc>
                <a:spcPct val="150000"/>
              </a:lnSpc>
              <a:tabLst>
                <a:tab pos="184150" algn="l"/>
              </a:tabLs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Gestion des incidents du parc informatique par GLPI.</a:t>
            </a:r>
          </a:p>
          <a:p>
            <a:pPr algn="just">
              <a:lnSpc>
                <a:spcPct val="150000"/>
              </a:lnSpc>
              <a:tabLst>
                <a:tab pos="184150" algn="l"/>
              </a:tabLst>
              <a:defRPr/>
            </a:pPr>
            <a:r>
              <a:rPr lang="fr-FR" sz="1600" spc="5" dirty="0">
                <a:solidFill>
                  <a:prstClr val="black"/>
                </a:solidFill>
                <a:latin typeface="Carlito"/>
              </a:rPr>
              <a:t>- Déploiement et l’utilisation efficace du logiciel de sécurité «Kaspersky».</a:t>
            </a:r>
          </a:p>
        </p:txBody>
      </p:sp>
    </p:spTree>
    <p:extLst>
      <p:ext uri="{BB962C8B-B14F-4D97-AF65-F5344CB8AC3E}">
        <p14:creationId xmlns:p14="http://schemas.microsoft.com/office/powerpoint/2010/main" val="2756987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42480</TotalTime>
  <Words>826</Words>
  <Application>Microsoft Office PowerPoint</Application>
  <PresentationFormat>Personnalisé</PresentationFormat>
  <Paragraphs>85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Carlito</vt:lpstr>
      <vt:lpstr>Office Theme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Hicham</dc:creator>
  <cp:lastModifiedBy>Reda DAALABI</cp:lastModifiedBy>
  <cp:revision>395</cp:revision>
  <dcterms:created xsi:type="dcterms:W3CDTF">2019-06-12T05:06:52Z</dcterms:created>
  <dcterms:modified xsi:type="dcterms:W3CDTF">2026-02-11T01:20:18Z</dcterms:modified>
</cp:coreProperties>
</file>